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3" r:id="rId4"/>
    <p:sldId id="274" r:id="rId5"/>
    <p:sldId id="268" r:id="rId6"/>
    <p:sldId id="270" r:id="rId7"/>
    <p:sldId id="280" r:id="rId8"/>
    <p:sldId id="281" r:id="rId9"/>
  </p:sldIdLst>
  <p:sldSz cx="18288000" cy="10287000"/>
  <p:notesSz cx="6858000" cy="9144000"/>
  <p:embeddedFontLst>
    <p:embeddedFont>
      <p:font typeface="Nourd" panose="020B0604020202020204" charset="0"/>
      <p:regular r:id="rId10"/>
    </p:embeddedFont>
    <p:embeddedFont>
      <p:font typeface="Nourd Bold" panose="020B0604020202020204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318B"/>
    <a:srgbClr val="40A8CD"/>
    <a:srgbClr val="0422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41" autoAdjust="0"/>
    <p:restoredTop sz="94683" autoAdjust="0"/>
  </p:normalViewPr>
  <p:slideViewPr>
    <p:cSldViewPr>
      <p:cViewPr varScale="1">
        <p:scale>
          <a:sx n="69" d="100"/>
          <a:sy n="69" d="100"/>
        </p:scale>
        <p:origin x="678" y="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jpe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2899298" y="352554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400000">
            <a:off x="12899298" y="691905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6"/>
                </a:lnTo>
                <a:lnTo>
                  <a:pt x="0" y="4205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5400000">
            <a:off x="13207383" y="325754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6"/>
                </a:lnTo>
                <a:lnTo>
                  <a:pt x="0" y="4205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5400000">
            <a:off x="13207383" y="42390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286586" y="6781806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400000">
            <a:off x="14916506" y="7463077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7" y="0"/>
                </a:lnTo>
                <a:lnTo>
                  <a:pt x="1202677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982020" y="8782634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0"/>
                </a:lnTo>
                <a:lnTo>
                  <a:pt x="0" y="1168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305806">
            <a:off x="16260396" y="880811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2" y="0"/>
                </a:lnTo>
                <a:lnTo>
                  <a:pt x="1886072" y="1886071"/>
                </a:lnTo>
                <a:lnTo>
                  <a:pt x="0" y="1886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>
            <a:off x="9304461" y="9833148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8"/>
                </a:lnTo>
                <a:lnTo>
                  <a:pt x="7334017" y="3667008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5400000">
            <a:off x="-4093503" y="3864916"/>
            <a:ext cx="9882557" cy="2053905"/>
          </a:xfrm>
          <a:custGeom>
            <a:avLst/>
            <a:gdLst/>
            <a:ahLst/>
            <a:cxnLst/>
            <a:rect l="l" t="t" r="r" b="b"/>
            <a:pathLst>
              <a:path w="9882557" h="2053905">
                <a:moveTo>
                  <a:pt x="0" y="0"/>
                </a:moveTo>
                <a:lnTo>
                  <a:pt x="9882557" y="0"/>
                </a:lnTo>
                <a:lnTo>
                  <a:pt x="9882557" y="2053905"/>
                </a:lnTo>
                <a:lnTo>
                  <a:pt x="0" y="2053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10800000">
            <a:off x="-7844165" y="-233439"/>
            <a:ext cx="10520439" cy="10520439"/>
          </a:xfrm>
          <a:custGeom>
            <a:avLst/>
            <a:gdLst/>
            <a:ahLst/>
            <a:cxnLst/>
            <a:rect l="l" t="t" r="r" b="b"/>
            <a:pathLst>
              <a:path w="10520439" h="10520439">
                <a:moveTo>
                  <a:pt x="0" y="0"/>
                </a:moveTo>
                <a:lnTo>
                  <a:pt x="10520440" y="0"/>
                </a:lnTo>
                <a:lnTo>
                  <a:pt x="10520440" y="10520439"/>
                </a:lnTo>
                <a:lnTo>
                  <a:pt x="0" y="105204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-1581722" y="9833148"/>
            <a:ext cx="10923063" cy="684975"/>
            <a:chOff x="0" y="0"/>
            <a:chExt cx="2891335" cy="1813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856756" y="364799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39" y="0"/>
                </a:lnTo>
                <a:lnTo>
                  <a:pt x="2848039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973908" y="1924497"/>
            <a:ext cx="12581782" cy="186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32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Large-Scale Multimodal Analysis of Product Packaging Using Optical Character Recognition and Transfer Learning via CNN for Visual Semiotic Classification</a:t>
            </a:r>
            <a:endParaRPr lang="en-US" sz="3200" b="1" i="1" dirty="0">
              <a:solidFill>
                <a:srgbClr val="40A8CD"/>
              </a:solidFill>
              <a:latin typeface="Nourd Bold"/>
              <a:ea typeface="Nourd Bold"/>
              <a:cs typeface="Nourd Bold"/>
              <a:sym typeface="Nourd Bold"/>
            </a:endParaRP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DC2D27F5-7A63-B086-FC57-25CAB33108CD}"/>
              </a:ext>
            </a:extLst>
          </p:cNvPr>
          <p:cNvSpPr txBox="1"/>
          <p:nvPr/>
        </p:nvSpPr>
        <p:spPr>
          <a:xfrm>
            <a:off x="9787482" y="8839408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930DED-6F90-CF4A-5147-A9EB3604C761}"/>
              </a:ext>
            </a:extLst>
          </p:cNvPr>
          <p:cNvSpPr txBox="1"/>
          <p:nvPr/>
        </p:nvSpPr>
        <p:spPr>
          <a:xfrm>
            <a:off x="3075081" y="6235561"/>
            <a:ext cx="1050273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d-ID" sz="2000" dirty="0" err="1">
                <a:latin typeface="Nourd"/>
                <a:ea typeface="Nourd"/>
                <a:cs typeface="Nourd"/>
                <a:sym typeface="Nourd"/>
              </a:rPr>
              <a:t>Authors</a:t>
            </a:r>
            <a:r>
              <a:rPr lang="id-ID" sz="2000" dirty="0">
                <a:latin typeface="Nourd"/>
                <a:ea typeface="Nourd"/>
                <a:cs typeface="Nourd"/>
                <a:sym typeface="Nourd"/>
              </a:rPr>
              <a:t>		: Agung Ribowo</a:t>
            </a:r>
            <a:br>
              <a:rPr lang="id-ID" sz="2000" dirty="0">
                <a:latin typeface="Nourd"/>
                <a:ea typeface="Nourd"/>
                <a:cs typeface="Nourd"/>
                <a:sym typeface="Nourd"/>
              </a:rPr>
            </a:br>
            <a:r>
              <a:rPr lang="id-ID" sz="2000" dirty="0">
                <a:latin typeface="Nourd"/>
                <a:ea typeface="Nourd"/>
                <a:cs typeface="Nourd"/>
                <a:sym typeface="Nourd"/>
              </a:rPr>
              <a:t>Co-</a:t>
            </a:r>
            <a:r>
              <a:rPr lang="id-ID" sz="2000" dirty="0" err="1">
                <a:latin typeface="Nourd"/>
                <a:ea typeface="Nourd"/>
                <a:cs typeface="Nourd"/>
                <a:sym typeface="Nourd"/>
              </a:rPr>
              <a:t>Authors</a:t>
            </a:r>
            <a:r>
              <a:rPr lang="id-ID" sz="2000" dirty="0">
                <a:latin typeface="Nourd"/>
                <a:ea typeface="Nourd"/>
                <a:cs typeface="Nourd"/>
                <a:sym typeface="Nourd"/>
              </a:rPr>
              <a:t> 	: Heny Kurniawati, Endang Wahyu Pamungkas</a:t>
            </a:r>
            <a:br>
              <a:rPr lang="id-ID" sz="2000" dirty="0">
                <a:latin typeface="Nourd"/>
                <a:ea typeface="Nourd"/>
                <a:cs typeface="Nourd"/>
                <a:sym typeface="Nourd"/>
              </a:rPr>
            </a:br>
            <a:r>
              <a:rPr lang="id-ID" sz="2000" dirty="0" err="1">
                <a:latin typeface="Nourd"/>
                <a:ea typeface="Nourd"/>
                <a:cs typeface="Nourd"/>
                <a:sym typeface="Nourd"/>
              </a:rPr>
              <a:t>Affiliation</a:t>
            </a:r>
            <a:r>
              <a:rPr lang="id-ID" sz="2000" dirty="0">
                <a:latin typeface="Nourd"/>
                <a:ea typeface="Nourd"/>
                <a:cs typeface="Nourd"/>
                <a:sym typeface="Nourd"/>
              </a:rPr>
              <a:t> 	: Universitas Muhammadiyah Surakarta, Sekolah Tinggi Bahasa Asing Cipto Hadi Pranoto Bekasi</a:t>
            </a:r>
            <a:endParaRPr lang="en-US" sz="2000" dirty="0">
              <a:latin typeface="Nourd"/>
              <a:ea typeface="Nourd"/>
              <a:cs typeface="Nourd"/>
              <a:sym typeface="Nourd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DABE728-53A3-B32B-79ED-E8B3B0DEF15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1128" y="419100"/>
            <a:ext cx="3014579" cy="100391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69F3142-76F5-1A40-508F-81501C67B8E0}"/>
              </a:ext>
            </a:extLst>
          </p:cNvPr>
          <p:cNvSpPr txBox="1"/>
          <p:nvPr/>
        </p:nvSpPr>
        <p:spPr>
          <a:xfrm>
            <a:off x="3075081" y="7786926"/>
            <a:ext cx="1050273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id-ID" sz="2800" b="1" dirty="0">
                <a:solidFill>
                  <a:srgbClr val="40A8CD"/>
                </a:solidFill>
              </a:rPr>
              <a:t>Fokus Riset:</a:t>
            </a:r>
            <a:r>
              <a:rPr lang="id-ID" sz="2800" dirty="0">
                <a:solidFill>
                  <a:srgbClr val="40A8CD"/>
                </a:solidFill>
              </a:rPr>
              <a:t> </a:t>
            </a:r>
            <a:r>
              <a:rPr lang="id-ID" sz="2800" dirty="0" err="1">
                <a:solidFill>
                  <a:srgbClr val="40A8CD"/>
                </a:solidFill>
              </a:rPr>
              <a:t>Computer</a:t>
            </a:r>
            <a:r>
              <a:rPr lang="id-ID" sz="2800" dirty="0">
                <a:solidFill>
                  <a:srgbClr val="40A8CD"/>
                </a:solidFill>
              </a:rPr>
              <a:t> Vision, Natural </a:t>
            </a:r>
            <a:r>
              <a:rPr lang="id-ID" sz="2800" dirty="0" err="1">
                <a:solidFill>
                  <a:srgbClr val="40A8CD"/>
                </a:solidFill>
              </a:rPr>
              <a:t>Language</a:t>
            </a:r>
            <a:r>
              <a:rPr lang="id-ID" sz="2800" dirty="0">
                <a:solidFill>
                  <a:srgbClr val="40A8CD"/>
                </a:solidFill>
              </a:rPr>
              <a:t> </a:t>
            </a:r>
            <a:r>
              <a:rPr lang="id-ID" sz="2800" dirty="0" err="1">
                <a:solidFill>
                  <a:srgbClr val="40A8CD"/>
                </a:solidFill>
              </a:rPr>
              <a:t>Processing</a:t>
            </a:r>
            <a:r>
              <a:rPr lang="id-ID" sz="2800" dirty="0">
                <a:solidFill>
                  <a:srgbClr val="40A8CD"/>
                </a:solidFill>
              </a:rPr>
              <a:t> (NLP), dan Digital </a:t>
            </a:r>
            <a:r>
              <a:rPr lang="id-ID" sz="2800" dirty="0" err="1">
                <a:solidFill>
                  <a:srgbClr val="40A8CD"/>
                </a:solidFill>
              </a:rPr>
              <a:t>Humanities</a:t>
            </a:r>
            <a:r>
              <a:rPr lang="id-ID" sz="2800" dirty="0">
                <a:solidFill>
                  <a:srgbClr val="40A8CD"/>
                </a:solidFill>
              </a:rPr>
              <a:t>.</a:t>
            </a:r>
            <a:endParaRPr lang="en-US" sz="2800" dirty="0">
              <a:solidFill>
                <a:srgbClr val="40A8CD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FC1537-26F5-C8AC-2B8F-239B304A9270}"/>
              </a:ext>
            </a:extLst>
          </p:cNvPr>
          <p:cNvSpPr txBox="1"/>
          <p:nvPr/>
        </p:nvSpPr>
        <p:spPr>
          <a:xfrm>
            <a:off x="2761600" y="4335755"/>
            <a:ext cx="1050273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id-ID" sz="2800" dirty="0"/>
              <a:t>Analisis </a:t>
            </a:r>
            <a:r>
              <a:rPr lang="id-ID" sz="2800" dirty="0" err="1"/>
              <a:t>Multimodal</a:t>
            </a:r>
            <a:r>
              <a:rPr lang="id-ID" sz="2800" dirty="0"/>
              <a:t> Skala Besar pada Kemasan Produk Menggunakan </a:t>
            </a:r>
            <a:r>
              <a:rPr lang="id-ID" sz="2800" i="1" dirty="0" err="1"/>
              <a:t>Optical</a:t>
            </a:r>
            <a:r>
              <a:rPr lang="id-ID" sz="2800" i="1" dirty="0"/>
              <a:t> </a:t>
            </a:r>
            <a:r>
              <a:rPr lang="id-ID" sz="2800" i="1" dirty="0" err="1"/>
              <a:t>Character</a:t>
            </a:r>
            <a:r>
              <a:rPr lang="id-ID" sz="2800" i="1" dirty="0"/>
              <a:t> </a:t>
            </a:r>
            <a:r>
              <a:rPr lang="id-ID" sz="2800" i="1" dirty="0" err="1"/>
              <a:t>Recognition</a:t>
            </a:r>
            <a:r>
              <a:rPr lang="id-ID" sz="2800" dirty="0"/>
              <a:t> dan </a:t>
            </a:r>
            <a:r>
              <a:rPr lang="id-ID" sz="2800" i="1" dirty="0"/>
              <a:t>Transfer </a:t>
            </a:r>
            <a:r>
              <a:rPr lang="id-ID" sz="2800" i="1" dirty="0" err="1"/>
              <a:t>Learning</a:t>
            </a:r>
            <a:r>
              <a:rPr lang="id-ID" sz="2800" dirty="0"/>
              <a:t> Berbasis CNN untuk Klasifikasi Semiotika Visual</a:t>
            </a:r>
            <a:endParaRPr lang="en-US" sz="2800" dirty="0">
              <a:latin typeface="Nourd"/>
              <a:ea typeface="Nourd"/>
              <a:cs typeface="Nourd"/>
              <a:sym typeface="Nou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451814" y="264656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-3451814" y="5480210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5400000">
            <a:off x="-3759899" y="291457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5400000">
            <a:off x="-3759899" y="574821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-312917" y="1711428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400000">
            <a:off x="1738434" y="1711428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6" y="0"/>
                </a:lnTo>
                <a:lnTo>
                  <a:pt x="1202676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1706937" y="425887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1"/>
                </a:lnTo>
                <a:lnTo>
                  <a:pt x="0" y="1168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5494193">
            <a:off x="-288851" y="-31700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1" y="0"/>
                </a:lnTo>
                <a:lnTo>
                  <a:pt x="1886071" y="1886072"/>
                </a:lnTo>
                <a:lnTo>
                  <a:pt x="0" y="188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800000">
            <a:off x="2875597" y="933613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1" y="0"/>
                </a:lnTo>
                <a:lnTo>
                  <a:pt x="4888041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10800000">
            <a:off x="7782688" y="933749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10800000">
            <a:off x="12689778" y="9338853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875597" y="9127948"/>
            <a:ext cx="15731854" cy="1880081"/>
            <a:chOff x="0" y="0"/>
            <a:chExt cx="4143369" cy="49516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143369" cy="495165"/>
            </a:xfrm>
            <a:custGeom>
              <a:avLst/>
              <a:gdLst/>
              <a:ahLst/>
              <a:cxnLst/>
              <a:rect l="l" t="t" r="r" b="b"/>
              <a:pathLst>
                <a:path w="4143369" h="495165">
                  <a:moveTo>
                    <a:pt x="0" y="0"/>
                  </a:moveTo>
                  <a:lnTo>
                    <a:pt x="4143369" y="0"/>
                  </a:lnTo>
                  <a:lnTo>
                    <a:pt x="4143369" y="495165"/>
                  </a:lnTo>
                  <a:lnTo>
                    <a:pt x="0" y="4951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71000"/>
                  </a:srgbClr>
                </a:gs>
                <a:gs pos="66667">
                  <a:srgbClr val="FFFFFF">
                    <a:alpha val="54000"/>
                  </a:srgbClr>
                </a:gs>
                <a:gs pos="100000">
                  <a:srgbClr val="FFFFFF">
                    <a:alpha val="21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143369" cy="533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10800000">
            <a:off x="8791201" y="9127948"/>
            <a:ext cx="9281250" cy="4640625"/>
          </a:xfrm>
          <a:custGeom>
            <a:avLst/>
            <a:gdLst/>
            <a:ahLst/>
            <a:cxnLst/>
            <a:rect l="l" t="t" r="r" b="b"/>
            <a:pathLst>
              <a:path w="9281250" h="4640625">
                <a:moveTo>
                  <a:pt x="0" y="0"/>
                </a:moveTo>
                <a:lnTo>
                  <a:pt x="9281250" y="0"/>
                </a:lnTo>
                <a:lnTo>
                  <a:pt x="9281250" y="4640625"/>
                </a:lnTo>
                <a:lnTo>
                  <a:pt x="0" y="464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-10800000" flipH="1">
            <a:off x="971550" y="-3324521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9"/>
                </a:lnTo>
                <a:lnTo>
                  <a:pt x="7334017" y="3667009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 rot="-10800000">
            <a:off x="8268687" y="-342488"/>
            <a:ext cx="10923063" cy="684975"/>
            <a:chOff x="0" y="0"/>
            <a:chExt cx="2891335" cy="18131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091925" y="1224570"/>
            <a:ext cx="11425142" cy="1007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150"/>
              </a:lnSpc>
            </a:pPr>
            <a:r>
              <a:rPr lang="en-US" sz="40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Latar </a:t>
            </a:r>
            <a:r>
              <a:rPr lang="en-US" sz="4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Belakang</a:t>
            </a:r>
            <a:r>
              <a:rPr lang="en-US" sz="40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 &amp; </a:t>
            </a:r>
            <a:r>
              <a:rPr lang="en-US" sz="4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Permasalahan</a:t>
            </a:r>
            <a:endParaRPr lang="en-US" sz="4000" b="1" dirty="0">
              <a:solidFill>
                <a:srgbClr val="40A8CD"/>
              </a:solidFill>
              <a:latin typeface="Nourd Bold"/>
              <a:ea typeface="Nourd Bold"/>
              <a:cs typeface="Nourd Bold"/>
              <a:sym typeface="Nour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345879" y="2543807"/>
            <a:ext cx="13203687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d-ID" sz="3200" b="1" dirty="0">
                <a:latin typeface="Nourd" panose="020B0604020202020204" charset="0"/>
              </a:rPr>
              <a:t>Konteks Fenomena:</a:t>
            </a:r>
            <a:r>
              <a:rPr lang="id-ID" sz="3200" dirty="0">
                <a:latin typeface="Nourd" panose="020B0604020202020204" charset="0"/>
              </a:rPr>
              <a:t> </a:t>
            </a:r>
            <a:r>
              <a:rPr lang="en-US" sz="2800" dirty="0" err="1">
                <a:latin typeface="Nourd" panose="020B0604020202020204" charset="0"/>
              </a:rPr>
              <a:t>Terjadi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tren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komodifikasi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budaya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Jepang</a:t>
            </a:r>
            <a:r>
              <a:rPr lang="en-US" sz="2800" dirty="0">
                <a:latin typeface="Nourd" panose="020B0604020202020204" charset="0"/>
              </a:rPr>
              <a:t> (</a:t>
            </a:r>
            <a:r>
              <a:rPr lang="en-US" sz="2800" i="1" dirty="0">
                <a:latin typeface="Nourd" panose="020B0604020202020204" charset="0"/>
              </a:rPr>
              <a:t>Japanophilia/</a:t>
            </a:r>
            <a:r>
              <a:rPr lang="en-US" sz="2800" i="1" dirty="0" err="1">
                <a:latin typeface="Nourd" panose="020B0604020202020204" charset="0"/>
              </a:rPr>
              <a:t>Japanization</a:t>
            </a:r>
            <a:r>
              <a:rPr lang="en-US" sz="2800" dirty="0">
                <a:latin typeface="Nourd" panose="020B0604020202020204" charset="0"/>
              </a:rPr>
              <a:t>) pada branding </a:t>
            </a:r>
            <a:r>
              <a:rPr lang="en-US" sz="2800" dirty="0" err="1">
                <a:latin typeface="Nourd" panose="020B0604020202020204" charset="0"/>
              </a:rPr>
              <a:t>produk</a:t>
            </a:r>
            <a:r>
              <a:rPr lang="en-US" sz="2800" dirty="0">
                <a:latin typeface="Nourd" panose="020B0604020202020204" charset="0"/>
              </a:rPr>
              <a:t> FMCG (Fast-Moving Consumer Goods) </a:t>
            </a:r>
            <a:r>
              <a:rPr lang="en-US" sz="2800" dirty="0" err="1">
                <a:latin typeface="Nourd" panose="020B0604020202020204" charset="0"/>
              </a:rPr>
              <a:t>lokal</a:t>
            </a:r>
            <a:r>
              <a:rPr lang="en-US" sz="2800" dirty="0">
                <a:latin typeface="Nourd" panose="020B0604020202020204" charset="0"/>
              </a:rPr>
              <a:t> Indonesia. </a:t>
            </a:r>
            <a:r>
              <a:rPr lang="en-US" sz="2800" dirty="0" err="1">
                <a:latin typeface="Nourd" panose="020B0604020202020204" charset="0"/>
              </a:rPr>
              <a:t>Produk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lokal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sengaja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menggunakan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aksara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atau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estetika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Jepang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untuk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menaikkan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citra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jual</a:t>
            </a:r>
            <a:r>
              <a:rPr lang="id-ID" sz="2800" dirty="0">
                <a:latin typeface="Nourd" panose="020B0604020202020204" charset="0"/>
              </a:rPr>
              <a:t>.</a:t>
            </a:r>
            <a:endParaRPr lang="id-ID" sz="3200" dirty="0">
              <a:latin typeface="Nourd" panose="020B0604020202020204" charset="0"/>
            </a:endParaRP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d-ID" sz="3200" b="1" dirty="0">
                <a:latin typeface="Nourd" panose="020B0604020202020204" charset="0"/>
              </a:rPr>
              <a:t>Kesenjangan Metodologi (Problem):</a:t>
            </a:r>
            <a:r>
              <a:rPr lang="id-ID" sz="32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Penelitian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semiotika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kemasan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sebelumnya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i="1" dirty="0">
                <a:latin typeface="Nourd" panose="020B0604020202020204" charset="0"/>
              </a:rPr>
              <a:t>(</a:t>
            </a:r>
            <a:r>
              <a:rPr lang="en-US" sz="2800" i="1" dirty="0" err="1">
                <a:latin typeface="Nourd" panose="020B0604020202020204" charset="0"/>
              </a:rPr>
              <a:t>misalnya</a:t>
            </a:r>
            <a:r>
              <a:rPr lang="en-US" sz="2800" i="1" dirty="0">
                <a:latin typeface="Nourd" panose="020B0604020202020204" charset="0"/>
              </a:rPr>
              <a:t> </a:t>
            </a:r>
            <a:r>
              <a:rPr lang="en-US" sz="2800" i="1" dirty="0" err="1">
                <a:latin typeface="Nourd" panose="020B0604020202020204" charset="0"/>
              </a:rPr>
              <a:t>terkait</a:t>
            </a:r>
            <a:r>
              <a:rPr lang="en-US" sz="2800" i="1" dirty="0">
                <a:latin typeface="Nourd" panose="020B0604020202020204" charset="0"/>
              </a:rPr>
              <a:t> </a:t>
            </a:r>
            <a:r>
              <a:rPr lang="en-US" sz="2800" i="1" dirty="0" err="1">
                <a:latin typeface="Nourd" panose="020B0604020202020204" charset="0"/>
              </a:rPr>
              <a:t>peminjaman</a:t>
            </a:r>
            <a:r>
              <a:rPr lang="en-US" sz="2800" i="1" dirty="0">
                <a:latin typeface="Nourd" panose="020B0604020202020204" charset="0"/>
              </a:rPr>
              <a:t> </a:t>
            </a:r>
            <a:r>
              <a:rPr lang="en-US" sz="2800" i="1" dirty="0" err="1">
                <a:latin typeface="Nourd" panose="020B0604020202020204" charset="0"/>
              </a:rPr>
              <a:t>kosakata</a:t>
            </a:r>
            <a:r>
              <a:rPr lang="en-US" sz="2800" i="1" dirty="0">
                <a:latin typeface="Nourd" panose="020B0604020202020204" charset="0"/>
              </a:rPr>
              <a:t> </a:t>
            </a:r>
            <a:r>
              <a:rPr lang="en-US" sz="2800" i="1" dirty="0" err="1">
                <a:latin typeface="Nourd" panose="020B0604020202020204" charset="0"/>
              </a:rPr>
              <a:t>Jepang</a:t>
            </a:r>
            <a:r>
              <a:rPr lang="en-US" sz="2800" i="1" dirty="0">
                <a:latin typeface="Nourd" panose="020B0604020202020204" charset="0"/>
              </a:rPr>
              <a:t>) </a:t>
            </a:r>
            <a:r>
              <a:rPr lang="en-US" sz="2800" dirty="0" err="1">
                <a:latin typeface="Nourd" panose="020B0604020202020204" charset="0"/>
              </a:rPr>
              <a:t>murni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menggunakan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pendekatan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kualitatif</a:t>
            </a:r>
            <a:r>
              <a:rPr lang="en-US" sz="2800" dirty="0">
                <a:latin typeface="Nourd" panose="020B0604020202020204" charset="0"/>
              </a:rPr>
              <a:t> dan manual</a:t>
            </a:r>
            <a:r>
              <a:rPr lang="id-ID" sz="2800" dirty="0">
                <a:latin typeface="Nourd" panose="020B0604020202020204" charset="0"/>
              </a:rPr>
              <a:t>.</a:t>
            </a:r>
          </a:p>
          <a:p>
            <a:pPr marL="285750" indent="-28575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id-ID" sz="3200" b="1" dirty="0">
                <a:latin typeface="Nourd" panose="020B0604020202020204" charset="0"/>
              </a:rPr>
              <a:t>Keterbatasan Skala: </a:t>
            </a:r>
            <a:r>
              <a:rPr lang="en-US" sz="2800" dirty="0" err="1">
                <a:latin typeface="Nourd" panose="020B0604020202020204" charset="0"/>
              </a:rPr>
              <a:t>Analisis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kualitatif</a:t>
            </a:r>
            <a:r>
              <a:rPr lang="en-US" sz="2800" dirty="0">
                <a:latin typeface="Nourd" panose="020B0604020202020204" charset="0"/>
              </a:rPr>
              <a:t> manual sangat </a:t>
            </a:r>
            <a:r>
              <a:rPr lang="en-US" sz="2800" dirty="0" err="1">
                <a:latin typeface="Nourd" panose="020B0604020202020204" charset="0"/>
              </a:rPr>
              <a:t>memakan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waktu</a:t>
            </a:r>
            <a:r>
              <a:rPr lang="en-US" sz="2800" dirty="0">
                <a:latin typeface="Nourd" panose="020B0604020202020204" charset="0"/>
              </a:rPr>
              <a:t> dan </a:t>
            </a:r>
            <a:r>
              <a:rPr lang="en-US" sz="2800" dirty="0" err="1">
                <a:latin typeface="Nourd" panose="020B0604020202020204" charset="0"/>
              </a:rPr>
              <a:t>hanya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mampu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mencakup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puluhan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sampel</a:t>
            </a:r>
            <a:r>
              <a:rPr lang="en-US" sz="2800" dirty="0">
                <a:latin typeface="Nourd" panose="020B0604020202020204" charset="0"/>
              </a:rPr>
              <a:t>.</a:t>
            </a:r>
            <a:endParaRPr lang="id-ID" sz="2800" dirty="0">
              <a:latin typeface="Nourd" panose="020B0604020202020204" charset="0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3885355" y="399828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40" y="0"/>
                </a:lnTo>
                <a:lnTo>
                  <a:pt x="2848040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A6862753-4B7E-4D35-3934-E125E8FCBE8D}"/>
              </a:ext>
            </a:extLst>
          </p:cNvPr>
          <p:cNvSpPr txBox="1"/>
          <p:nvPr/>
        </p:nvSpPr>
        <p:spPr>
          <a:xfrm>
            <a:off x="12767431" y="8983286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27F535C-E484-4C18-B0F9-DAEE3F1B10D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3206" y="463329"/>
            <a:ext cx="1030039" cy="1029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D4688-1DD6-3DA9-AD26-37D49B777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15EC502-79C5-268A-D60D-60A8BB816108}"/>
              </a:ext>
            </a:extLst>
          </p:cNvPr>
          <p:cNvSpPr/>
          <p:nvPr/>
        </p:nvSpPr>
        <p:spPr>
          <a:xfrm rot="-5400000">
            <a:off x="-3451814" y="264656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0EA46A-5310-B656-0560-40E040E8FA66}"/>
              </a:ext>
            </a:extLst>
          </p:cNvPr>
          <p:cNvSpPr/>
          <p:nvPr/>
        </p:nvSpPr>
        <p:spPr>
          <a:xfrm rot="-5400000">
            <a:off x="-3451814" y="5480210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00693BB-4746-1CE1-B8C0-6CBC4962F3ED}"/>
              </a:ext>
            </a:extLst>
          </p:cNvPr>
          <p:cNvSpPr/>
          <p:nvPr/>
        </p:nvSpPr>
        <p:spPr>
          <a:xfrm rot="-5400000">
            <a:off x="-3759899" y="291457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4FB9985-56A4-8D8E-ECA9-A15624AA1677}"/>
              </a:ext>
            </a:extLst>
          </p:cNvPr>
          <p:cNvSpPr/>
          <p:nvPr/>
        </p:nvSpPr>
        <p:spPr>
          <a:xfrm rot="-5400000">
            <a:off x="-3759899" y="574821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7AC5E29-BA48-C93A-B11D-29FED2F6BC1B}"/>
              </a:ext>
            </a:extLst>
          </p:cNvPr>
          <p:cNvSpPr/>
          <p:nvPr/>
        </p:nvSpPr>
        <p:spPr>
          <a:xfrm rot="-10800000">
            <a:off x="-312917" y="1711428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B78A4C7-7222-A6D1-A69B-860188254C5F}"/>
              </a:ext>
            </a:extLst>
          </p:cNvPr>
          <p:cNvSpPr/>
          <p:nvPr/>
        </p:nvSpPr>
        <p:spPr>
          <a:xfrm rot="5400000">
            <a:off x="1738434" y="1711428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6" y="0"/>
                </a:lnTo>
                <a:lnTo>
                  <a:pt x="1202676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257F13F-3419-B2C8-D647-41E4EB3BD26F}"/>
              </a:ext>
            </a:extLst>
          </p:cNvPr>
          <p:cNvSpPr/>
          <p:nvPr/>
        </p:nvSpPr>
        <p:spPr>
          <a:xfrm rot="-10800000">
            <a:off x="1706937" y="425887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1"/>
                </a:lnTo>
                <a:lnTo>
                  <a:pt x="0" y="1168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649CFCA-1505-4A94-09FA-34283A96A2B0}"/>
              </a:ext>
            </a:extLst>
          </p:cNvPr>
          <p:cNvSpPr/>
          <p:nvPr/>
        </p:nvSpPr>
        <p:spPr>
          <a:xfrm rot="5494193">
            <a:off x="-288851" y="-31700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1" y="0"/>
                </a:lnTo>
                <a:lnTo>
                  <a:pt x="1886071" y="1886072"/>
                </a:lnTo>
                <a:lnTo>
                  <a:pt x="0" y="188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0C80863-B252-9852-153E-3029329A1A4A}"/>
              </a:ext>
            </a:extLst>
          </p:cNvPr>
          <p:cNvSpPr/>
          <p:nvPr/>
        </p:nvSpPr>
        <p:spPr>
          <a:xfrm rot="-10800000">
            <a:off x="2875597" y="933613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1" y="0"/>
                </a:lnTo>
                <a:lnTo>
                  <a:pt x="4888041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9675DB4C-7094-6A8F-CF5A-45A3B7A9DE7A}"/>
              </a:ext>
            </a:extLst>
          </p:cNvPr>
          <p:cNvSpPr/>
          <p:nvPr/>
        </p:nvSpPr>
        <p:spPr>
          <a:xfrm rot="-10800000">
            <a:off x="7782688" y="933749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C7C2FB-4A6D-F942-950C-182294804308}"/>
              </a:ext>
            </a:extLst>
          </p:cNvPr>
          <p:cNvSpPr/>
          <p:nvPr/>
        </p:nvSpPr>
        <p:spPr>
          <a:xfrm rot="-10800000">
            <a:off x="12689778" y="9338853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4DFE6A7-C85A-DE51-39F0-67B638C1F60B}"/>
              </a:ext>
            </a:extLst>
          </p:cNvPr>
          <p:cNvGrpSpPr/>
          <p:nvPr/>
        </p:nvGrpSpPr>
        <p:grpSpPr>
          <a:xfrm>
            <a:off x="2875597" y="9127948"/>
            <a:ext cx="15731854" cy="1880081"/>
            <a:chOff x="0" y="0"/>
            <a:chExt cx="4143369" cy="49516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2580EC7-62A9-0751-9E9D-5078CBD6AED5}"/>
                </a:ext>
              </a:extLst>
            </p:cNvPr>
            <p:cNvSpPr/>
            <p:nvPr/>
          </p:nvSpPr>
          <p:spPr>
            <a:xfrm>
              <a:off x="0" y="0"/>
              <a:ext cx="4143369" cy="495165"/>
            </a:xfrm>
            <a:custGeom>
              <a:avLst/>
              <a:gdLst/>
              <a:ahLst/>
              <a:cxnLst/>
              <a:rect l="l" t="t" r="r" b="b"/>
              <a:pathLst>
                <a:path w="4143369" h="495165">
                  <a:moveTo>
                    <a:pt x="0" y="0"/>
                  </a:moveTo>
                  <a:lnTo>
                    <a:pt x="4143369" y="0"/>
                  </a:lnTo>
                  <a:lnTo>
                    <a:pt x="4143369" y="495165"/>
                  </a:lnTo>
                  <a:lnTo>
                    <a:pt x="0" y="4951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71000"/>
                  </a:srgbClr>
                </a:gs>
                <a:gs pos="66667">
                  <a:srgbClr val="FFFFFF">
                    <a:alpha val="54000"/>
                  </a:srgbClr>
                </a:gs>
                <a:gs pos="100000">
                  <a:srgbClr val="FFFFFF">
                    <a:alpha val="21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88122DE-64EA-D7F5-8ABD-7AD19F7395D8}"/>
                </a:ext>
              </a:extLst>
            </p:cNvPr>
            <p:cNvSpPr txBox="1"/>
            <p:nvPr/>
          </p:nvSpPr>
          <p:spPr>
            <a:xfrm>
              <a:off x="0" y="-38100"/>
              <a:ext cx="4143369" cy="533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7C50C2B2-43EF-E8E7-4F96-79C5053E4BC8}"/>
              </a:ext>
            </a:extLst>
          </p:cNvPr>
          <p:cNvSpPr/>
          <p:nvPr/>
        </p:nvSpPr>
        <p:spPr>
          <a:xfrm rot="-10800000">
            <a:off x="8689419" y="9127948"/>
            <a:ext cx="9281250" cy="4640625"/>
          </a:xfrm>
          <a:custGeom>
            <a:avLst/>
            <a:gdLst/>
            <a:ahLst/>
            <a:cxnLst/>
            <a:rect l="l" t="t" r="r" b="b"/>
            <a:pathLst>
              <a:path w="9281250" h="4640625">
                <a:moveTo>
                  <a:pt x="0" y="0"/>
                </a:moveTo>
                <a:lnTo>
                  <a:pt x="9281250" y="0"/>
                </a:lnTo>
                <a:lnTo>
                  <a:pt x="9281250" y="4640625"/>
                </a:lnTo>
                <a:lnTo>
                  <a:pt x="0" y="464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4C67701-F856-6345-B381-86A5E05E43A1}"/>
              </a:ext>
            </a:extLst>
          </p:cNvPr>
          <p:cNvSpPr/>
          <p:nvPr/>
        </p:nvSpPr>
        <p:spPr>
          <a:xfrm rot="-10800000" flipH="1">
            <a:off x="971550" y="-3324521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9"/>
                </a:lnTo>
                <a:lnTo>
                  <a:pt x="7334017" y="3667009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CED27FE6-C26D-1423-1198-2C22A836FEA9}"/>
              </a:ext>
            </a:extLst>
          </p:cNvPr>
          <p:cNvGrpSpPr/>
          <p:nvPr/>
        </p:nvGrpSpPr>
        <p:grpSpPr>
          <a:xfrm rot="-10800000">
            <a:off x="8268687" y="-342488"/>
            <a:ext cx="10923063" cy="684975"/>
            <a:chOff x="0" y="0"/>
            <a:chExt cx="2891335" cy="18131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28A1858-9E9D-B539-FFBA-579AD0AAA517}"/>
                </a:ext>
              </a:extLst>
            </p:cNvPr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09F15296-765F-77BE-27C9-CA57FFF3E7ED}"/>
                </a:ext>
              </a:extLst>
            </p:cNvPr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704851D7-840F-6211-FE72-D027CC7C1BA3}"/>
              </a:ext>
            </a:extLst>
          </p:cNvPr>
          <p:cNvSpPr/>
          <p:nvPr/>
        </p:nvSpPr>
        <p:spPr>
          <a:xfrm>
            <a:off x="4091925" y="2861037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1.</a:t>
            </a:r>
            <a:endParaRPr lang="en-US" sz="2000" b="1" dirty="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0C18FE7-15F2-C83F-2660-5AE57CF3F807}"/>
              </a:ext>
            </a:extLst>
          </p:cNvPr>
          <p:cNvSpPr txBox="1"/>
          <p:nvPr/>
        </p:nvSpPr>
        <p:spPr>
          <a:xfrm>
            <a:off x="4091925" y="1224570"/>
            <a:ext cx="11425142" cy="74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00"/>
              </a:lnSpc>
            </a:pPr>
            <a:r>
              <a:rPr lang="en-US" sz="5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Kebaruan</a:t>
            </a:r>
            <a:r>
              <a:rPr lang="en-US" sz="50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 </a:t>
            </a:r>
            <a:r>
              <a:rPr lang="en-US" sz="5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Penelitian</a:t>
            </a:r>
            <a:r>
              <a:rPr lang="en-US" sz="50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 (Novelty)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0B1C44A-B402-8904-C968-41D6CDC21991}"/>
              </a:ext>
            </a:extLst>
          </p:cNvPr>
          <p:cNvSpPr txBox="1"/>
          <p:nvPr/>
        </p:nvSpPr>
        <p:spPr>
          <a:xfrm>
            <a:off x="5298836" y="2781300"/>
            <a:ext cx="10626966" cy="176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 err="1">
                <a:latin typeface="Nourd" panose="020B0604020202020204" charset="0"/>
              </a:rPr>
              <a:t>Pergeseran</a:t>
            </a:r>
            <a:r>
              <a:rPr lang="en-US" sz="2800" b="1" dirty="0">
                <a:latin typeface="Nourd" panose="020B0604020202020204" charset="0"/>
              </a:rPr>
              <a:t> </a:t>
            </a:r>
            <a:r>
              <a:rPr lang="en-US" sz="2800" b="1" dirty="0" err="1">
                <a:latin typeface="Nourd" panose="020B0604020202020204" charset="0"/>
              </a:rPr>
              <a:t>Metodologi</a:t>
            </a:r>
            <a:r>
              <a:rPr lang="en-US" sz="2800" b="1" dirty="0">
                <a:latin typeface="Nourd" panose="020B0604020202020204" charset="0"/>
              </a:rPr>
              <a:t>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Mengubah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kajian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semiotika</a:t>
            </a:r>
            <a:r>
              <a:rPr lang="en-US" sz="2800" dirty="0">
                <a:latin typeface="Nourd" panose="020B0604020202020204" charset="0"/>
              </a:rPr>
              <a:t> visual </a:t>
            </a:r>
            <a:r>
              <a:rPr lang="en-US" sz="2800" dirty="0" err="1">
                <a:latin typeface="Nourd" panose="020B0604020202020204" charset="0"/>
              </a:rPr>
              <a:t>dari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interpretasi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kualitatif</a:t>
            </a:r>
            <a:r>
              <a:rPr lang="en-US" sz="2800" dirty="0">
                <a:latin typeface="Nourd" panose="020B0604020202020204" charset="0"/>
              </a:rPr>
              <a:t> yang </a:t>
            </a:r>
            <a:r>
              <a:rPr lang="en-US" sz="2800" dirty="0" err="1">
                <a:latin typeface="Nourd" panose="020B0604020202020204" charset="0"/>
              </a:rPr>
              <a:t>lambat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menjadi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analisis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komputasional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berskala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besar</a:t>
            </a:r>
            <a:r>
              <a:rPr lang="en-US" sz="2800" dirty="0">
                <a:latin typeface="Nourd" panose="020B0604020202020204" charset="0"/>
              </a:rPr>
              <a:t> (</a:t>
            </a:r>
            <a:r>
              <a:rPr lang="en-US" sz="2800" i="1" dirty="0">
                <a:latin typeface="Nourd" panose="020B0604020202020204" charset="0"/>
              </a:rPr>
              <a:t>large-scale</a:t>
            </a:r>
            <a:r>
              <a:rPr lang="en-US" sz="2800" dirty="0">
                <a:latin typeface="Nourd" panose="020B0604020202020204" charset="0"/>
              </a:rPr>
              <a:t>) </a:t>
            </a:r>
            <a:r>
              <a:rPr lang="en-US" sz="2800" dirty="0" err="1">
                <a:latin typeface="Nourd" panose="020B0604020202020204" charset="0"/>
              </a:rPr>
              <a:t>berbasis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i="1" dirty="0">
                <a:latin typeface="Nourd" panose="020B0604020202020204" charset="0"/>
              </a:rPr>
              <a:t>Deep Learning</a:t>
            </a:r>
            <a:r>
              <a:rPr lang="en-US" sz="2800" dirty="0">
                <a:latin typeface="Nourd" panose="020B0604020202020204" charset="0"/>
              </a:rPr>
              <a:t> yang </a:t>
            </a:r>
            <a:r>
              <a:rPr lang="en-US" sz="2800" dirty="0" err="1">
                <a:latin typeface="Nourd" panose="020B0604020202020204" charset="0"/>
              </a:rPr>
              <a:t>lebih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terukur</a:t>
            </a:r>
            <a:r>
              <a:rPr lang="en-US" sz="2800" dirty="0">
                <a:latin typeface="Nourd" panose="020B0604020202020204" charset="0"/>
              </a:rPr>
              <a:t>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B6298FD-6D48-7490-7F8F-3BE5C533F7D5}"/>
              </a:ext>
            </a:extLst>
          </p:cNvPr>
          <p:cNvSpPr/>
          <p:nvPr/>
        </p:nvSpPr>
        <p:spPr>
          <a:xfrm>
            <a:off x="4078070" y="4634347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3"/>
                </a:lnTo>
                <a:lnTo>
                  <a:pt x="0" y="87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2.</a:t>
            </a:r>
            <a:endParaRPr lang="en-US" sz="4000" b="1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C61B408-65CE-54A0-511C-298D95366743}"/>
              </a:ext>
            </a:extLst>
          </p:cNvPr>
          <p:cNvSpPr txBox="1"/>
          <p:nvPr/>
        </p:nvSpPr>
        <p:spPr>
          <a:xfrm>
            <a:off x="5222403" y="4635258"/>
            <a:ext cx="10703398" cy="176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>
                <a:latin typeface="Nourd" panose="020B0604020202020204" charset="0"/>
              </a:rPr>
              <a:t>Fusi Multimodal: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Inovasi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penggabungan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ekstraksi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fitur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linguistik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teks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menggunakan</a:t>
            </a:r>
            <a:r>
              <a:rPr lang="en-US" sz="2800" dirty="0">
                <a:latin typeface="Nourd" panose="020B0604020202020204" charset="0"/>
              </a:rPr>
              <a:t> OCR </a:t>
            </a:r>
            <a:r>
              <a:rPr lang="en-US" sz="2800" dirty="0" err="1">
                <a:latin typeface="Nourd" panose="020B0604020202020204" charset="0"/>
              </a:rPr>
              <a:t>dengan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ekstraksi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fitur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semiotik</a:t>
            </a:r>
            <a:r>
              <a:rPr lang="en-US" sz="2800" dirty="0">
                <a:latin typeface="Nourd" panose="020B0604020202020204" charset="0"/>
              </a:rPr>
              <a:t> visual </a:t>
            </a:r>
            <a:r>
              <a:rPr lang="en-US" sz="2800" dirty="0" err="1">
                <a:latin typeface="Nourd" panose="020B0604020202020204" charset="0"/>
              </a:rPr>
              <a:t>menggunakan</a:t>
            </a:r>
            <a:r>
              <a:rPr lang="en-US" sz="2800" dirty="0">
                <a:latin typeface="Nourd" panose="020B0604020202020204" charset="0"/>
              </a:rPr>
              <a:t> CNN,</a:t>
            </a:r>
            <a:r>
              <a:rPr lang="id-ID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pendekatan</a:t>
            </a:r>
            <a:r>
              <a:rPr lang="en-US" sz="2800" dirty="0">
                <a:latin typeface="Nourd" panose="020B0604020202020204" charset="0"/>
              </a:rPr>
              <a:t> yang </a:t>
            </a:r>
            <a:r>
              <a:rPr lang="en-US" sz="2800" dirty="0" err="1">
                <a:latin typeface="Nourd" panose="020B0604020202020204" charset="0"/>
              </a:rPr>
              <a:t>masih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jarang</a:t>
            </a:r>
            <a:r>
              <a:rPr lang="en-US" sz="2800" dirty="0">
                <a:latin typeface="Nourd" panose="020B0604020202020204" charset="0"/>
              </a:rPr>
              <a:t> di</a:t>
            </a:r>
            <a:r>
              <a:rPr lang="id-ID" sz="2800" dirty="0">
                <a:latin typeface="Nourd" panose="020B0604020202020204" charset="0"/>
              </a:rPr>
              <a:t>lakukan pada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ranah</a:t>
            </a:r>
            <a:r>
              <a:rPr lang="en-US" sz="2800" dirty="0">
                <a:latin typeface="Nourd" panose="020B0604020202020204" charset="0"/>
              </a:rPr>
              <a:t> AI Indonesia.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93344FE7-C641-FE48-F674-5DB4132E1412}"/>
              </a:ext>
            </a:extLst>
          </p:cNvPr>
          <p:cNvSpPr/>
          <p:nvPr/>
        </p:nvSpPr>
        <p:spPr>
          <a:xfrm>
            <a:off x="4008565" y="6710018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3.</a:t>
            </a:r>
            <a:endParaRPr lang="en-US" sz="4000" b="1" dirty="0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7A7A729-363E-C992-B6BA-939F1F85F773}"/>
              </a:ext>
            </a:extLst>
          </p:cNvPr>
          <p:cNvSpPr txBox="1"/>
          <p:nvPr/>
        </p:nvSpPr>
        <p:spPr>
          <a:xfrm>
            <a:off x="5222402" y="6710018"/>
            <a:ext cx="10703399" cy="1329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 err="1">
                <a:latin typeface="Nourd" panose="020B0604020202020204" charset="0"/>
              </a:rPr>
              <a:t>Kontribusi</a:t>
            </a:r>
            <a:r>
              <a:rPr lang="en-US" sz="2800" b="1" dirty="0">
                <a:latin typeface="Nourd" panose="020B0604020202020204" charset="0"/>
              </a:rPr>
              <a:t> Dataset: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Berpotensi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menciptakan</a:t>
            </a:r>
            <a:r>
              <a:rPr lang="en-US" sz="2800" dirty="0">
                <a:latin typeface="Nourd" panose="020B0604020202020204" charset="0"/>
              </a:rPr>
              <a:t> dataset </a:t>
            </a:r>
            <a:r>
              <a:rPr lang="en-US" sz="2800" dirty="0" err="1">
                <a:latin typeface="Nourd" panose="020B0604020202020204" charset="0"/>
              </a:rPr>
              <a:t>anotasi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kemasan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produk</a:t>
            </a:r>
            <a:r>
              <a:rPr lang="en-US" sz="2800" dirty="0">
                <a:latin typeface="Nourd" panose="020B0604020202020204" charset="0"/>
              </a:rPr>
              <a:t> FMCG Indonesia </a:t>
            </a:r>
            <a:r>
              <a:rPr lang="en-US" sz="2800" dirty="0" err="1">
                <a:latin typeface="Nourd" panose="020B0604020202020204" charset="0"/>
              </a:rPr>
              <a:t>berskala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besar</a:t>
            </a:r>
            <a:r>
              <a:rPr lang="en-US" sz="2800" dirty="0">
                <a:latin typeface="Nourd" panose="020B0604020202020204" charset="0"/>
              </a:rPr>
              <a:t> yang </a:t>
            </a:r>
            <a:r>
              <a:rPr lang="en-US" sz="2800" dirty="0" err="1">
                <a:latin typeface="Nourd" panose="020B0604020202020204" charset="0"/>
              </a:rPr>
              <a:t>dapat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menjadi</a:t>
            </a:r>
            <a:r>
              <a:rPr lang="en-US" sz="2800" dirty="0">
                <a:latin typeface="Nourd" panose="020B0604020202020204" charset="0"/>
              </a:rPr>
              <a:t> benchmark </a:t>
            </a:r>
            <a:r>
              <a:rPr lang="en-US" sz="2800" dirty="0" err="1">
                <a:latin typeface="Nourd" panose="020B0604020202020204" charset="0"/>
              </a:rPr>
              <a:t>baru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untuk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penelitian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i="1" dirty="0">
                <a:latin typeface="Nourd" panose="020B0604020202020204" charset="0"/>
              </a:rPr>
              <a:t>Computer Vision</a:t>
            </a:r>
            <a:r>
              <a:rPr lang="en-US" sz="2800" dirty="0">
                <a:latin typeface="Nourd" panose="020B0604020202020204" charset="0"/>
              </a:rPr>
              <a:t>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20CA0C06-12D9-604F-051B-1DF67ADFC6B4}"/>
              </a:ext>
            </a:extLst>
          </p:cNvPr>
          <p:cNvSpPr/>
          <p:nvPr/>
        </p:nvSpPr>
        <p:spPr>
          <a:xfrm>
            <a:off x="14196075" y="361448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39" y="0"/>
                </a:lnTo>
                <a:lnTo>
                  <a:pt x="2848039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D73AF32A-8DF8-9B41-A33F-DA9C94F82D8F}"/>
              </a:ext>
            </a:extLst>
          </p:cNvPr>
          <p:cNvSpPr txBox="1"/>
          <p:nvPr/>
        </p:nvSpPr>
        <p:spPr>
          <a:xfrm>
            <a:off x="12767431" y="8983286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614CAF4-95EF-5204-BF4A-D09A3DC05BB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4114" y="419109"/>
            <a:ext cx="1030039" cy="10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944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4D360-2C8C-4B2D-F363-86954FEB9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D5458D-9907-B0FB-3648-9EFA261D175B}"/>
              </a:ext>
            </a:extLst>
          </p:cNvPr>
          <p:cNvSpPr/>
          <p:nvPr/>
        </p:nvSpPr>
        <p:spPr>
          <a:xfrm rot="-5400000">
            <a:off x="-3451814" y="264656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6474BB6-3BDE-41B4-F9D0-053F96AE06FD}"/>
              </a:ext>
            </a:extLst>
          </p:cNvPr>
          <p:cNvSpPr/>
          <p:nvPr/>
        </p:nvSpPr>
        <p:spPr>
          <a:xfrm rot="-5400000">
            <a:off x="-3451814" y="5480210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648530C-CE49-4013-E6F7-5630B39ECC47}"/>
              </a:ext>
            </a:extLst>
          </p:cNvPr>
          <p:cNvSpPr/>
          <p:nvPr/>
        </p:nvSpPr>
        <p:spPr>
          <a:xfrm rot="-5400000">
            <a:off x="-3759899" y="291457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3CF0C80-CA96-3D89-304D-4BDD77865793}"/>
              </a:ext>
            </a:extLst>
          </p:cNvPr>
          <p:cNvSpPr/>
          <p:nvPr/>
        </p:nvSpPr>
        <p:spPr>
          <a:xfrm rot="-5400000">
            <a:off x="-3759899" y="574821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5092D9B-C2C5-C5F9-4959-51B346FEFD02}"/>
              </a:ext>
            </a:extLst>
          </p:cNvPr>
          <p:cNvSpPr/>
          <p:nvPr/>
        </p:nvSpPr>
        <p:spPr>
          <a:xfrm rot="-10800000">
            <a:off x="-312917" y="1711428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7641D1E-279F-EE8C-B794-AC2BDE76CE3F}"/>
              </a:ext>
            </a:extLst>
          </p:cNvPr>
          <p:cNvSpPr/>
          <p:nvPr/>
        </p:nvSpPr>
        <p:spPr>
          <a:xfrm rot="5400000">
            <a:off x="1738434" y="1711428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6" y="0"/>
                </a:lnTo>
                <a:lnTo>
                  <a:pt x="1202676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A6A9B5F-3387-60BE-D239-93B28C88AF67}"/>
              </a:ext>
            </a:extLst>
          </p:cNvPr>
          <p:cNvSpPr/>
          <p:nvPr/>
        </p:nvSpPr>
        <p:spPr>
          <a:xfrm rot="-10800000">
            <a:off x="1706937" y="425887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1"/>
                </a:lnTo>
                <a:lnTo>
                  <a:pt x="0" y="1168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5184E3-0321-1544-B833-0C8C3ACEE96B}"/>
              </a:ext>
            </a:extLst>
          </p:cNvPr>
          <p:cNvSpPr/>
          <p:nvPr/>
        </p:nvSpPr>
        <p:spPr>
          <a:xfrm rot="5494193">
            <a:off x="-288851" y="-31700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1" y="0"/>
                </a:lnTo>
                <a:lnTo>
                  <a:pt x="1886071" y="1886072"/>
                </a:lnTo>
                <a:lnTo>
                  <a:pt x="0" y="188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DBD0D19-6A11-7DB5-1C12-A896583F77CE}"/>
              </a:ext>
            </a:extLst>
          </p:cNvPr>
          <p:cNvSpPr/>
          <p:nvPr/>
        </p:nvSpPr>
        <p:spPr>
          <a:xfrm rot="-10800000">
            <a:off x="2875597" y="933613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1" y="0"/>
                </a:lnTo>
                <a:lnTo>
                  <a:pt x="4888041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CF0D25C0-6F8D-B448-5D49-5E08F960FB77}"/>
              </a:ext>
            </a:extLst>
          </p:cNvPr>
          <p:cNvSpPr/>
          <p:nvPr/>
        </p:nvSpPr>
        <p:spPr>
          <a:xfrm rot="-10800000">
            <a:off x="7782688" y="933749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2D3E5B6-7010-5914-C3BE-F1B5071D344E}"/>
              </a:ext>
            </a:extLst>
          </p:cNvPr>
          <p:cNvSpPr/>
          <p:nvPr/>
        </p:nvSpPr>
        <p:spPr>
          <a:xfrm rot="-10800000">
            <a:off x="12689778" y="9338853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6FED64D-ED45-6187-A808-0966EF022988}"/>
              </a:ext>
            </a:extLst>
          </p:cNvPr>
          <p:cNvGrpSpPr/>
          <p:nvPr/>
        </p:nvGrpSpPr>
        <p:grpSpPr>
          <a:xfrm>
            <a:off x="2875597" y="9127948"/>
            <a:ext cx="15731854" cy="1880081"/>
            <a:chOff x="0" y="0"/>
            <a:chExt cx="4143369" cy="49516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5226A2A-7C90-DEE7-EE7A-916DD95791B2}"/>
                </a:ext>
              </a:extLst>
            </p:cNvPr>
            <p:cNvSpPr/>
            <p:nvPr/>
          </p:nvSpPr>
          <p:spPr>
            <a:xfrm>
              <a:off x="0" y="0"/>
              <a:ext cx="4143369" cy="495165"/>
            </a:xfrm>
            <a:custGeom>
              <a:avLst/>
              <a:gdLst/>
              <a:ahLst/>
              <a:cxnLst/>
              <a:rect l="l" t="t" r="r" b="b"/>
              <a:pathLst>
                <a:path w="4143369" h="495165">
                  <a:moveTo>
                    <a:pt x="0" y="0"/>
                  </a:moveTo>
                  <a:lnTo>
                    <a:pt x="4143369" y="0"/>
                  </a:lnTo>
                  <a:lnTo>
                    <a:pt x="4143369" y="495165"/>
                  </a:lnTo>
                  <a:lnTo>
                    <a:pt x="0" y="4951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71000"/>
                  </a:srgbClr>
                </a:gs>
                <a:gs pos="66667">
                  <a:srgbClr val="FFFFFF">
                    <a:alpha val="54000"/>
                  </a:srgbClr>
                </a:gs>
                <a:gs pos="100000">
                  <a:srgbClr val="FFFFFF">
                    <a:alpha val="21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1B0E2C-310D-9F21-BC91-C15FEC9E6706}"/>
                </a:ext>
              </a:extLst>
            </p:cNvPr>
            <p:cNvSpPr txBox="1"/>
            <p:nvPr/>
          </p:nvSpPr>
          <p:spPr>
            <a:xfrm>
              <a:off x="0" y="-38100"/>
              <a:ext cx="4143369" cy="533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9A465768-24B3-7399-3843-D45B4698F7CE}"/>
              </a:ext>
            </a:extLst>
          </p:cNvPr>
          <p:cNvSpPr/>
          <p:nvPr/>
        </p:nvSpPr>
        <p:spPr>
          <a:xfrm rot="-10800000">
            <a:off x="8689419" y="9127948"/>
            <a:ext cx="9281250" cy="4640625"/>
          </a:xfrm>
          <a:custGeom>
            <a:avLst/>
            <a:gdLst/>
            <a:ahLst/>
            <a:cxnLst/>
            <a:rect l="l" t="t" r="r" b="b"/>
            <a:pathLst>
              <a:path w="9281250" h="4640625">
                <a:moveTo>
                  <a:pt x="0" y="0"/>
                </a:moveTo>
                <a:lnTo>
                  <a:pt x="9281250" y="0"/>
                </a:lnTo>
                <a:lnTo>
                  <a:pt x="9281250" y="4640625"/>
                </a:lnTo>
                <a:lnTo>
                  <a:pt x="0" y="464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2010035-63FE-1498-7911-D59DDE01FA18}"/>
              </a:ext>
            </a:extLst>
          </p:cNvPr>
          <p:cNvSpPr/>
          <p:nvPr/>
        </p:nvSpPr>
        <p:spPr>
          <a:xfrm rot="-10800000" flipH="1">
            <a:off x="971550" y="-3324521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9"/>
                </a:lnTo>
                <a:lnTo>
                  <a:pt x="7334017" y="3667009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E6E26FC-5F9C-8B29-CC27-FF006D0F3755}"/>
              </a:ext>
            </a:extLst>
          </p:cNvPr>
          <p:cNvGrpSpPr/>
          <p:nvPr/>
        </p:nvGrpSpPr>
        <p:grpSpPr>
          <a:xfrm rot="-10800000">
            <a:off x="8268687" y="-342488"/>
            <a:ext cx="10923063" cy="684975"/>
            <a:chOff x="0" y="0"/>
            <a:chExt cx="2891335" cy="18131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5CE4E23F-D86A-C5A7-35B1-1F7BD419AB7D}"/>
                </a:ext>
              </a:extLst>
            </p:cNvPr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D239BC08-A905-8558-B828-E83B25AD2C5C}"/>
                </a:ext>
              </a:extLst>
            </p:cNvPr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23A85DE-88AE-CB34-37A6-A6D027E79BD6}"/>
              </a:ext>
            </a:extLst>
          </p:cNvPr>
          <p:cNvSpPr/>
          <p:nvPr/>
        </p:nvSpPr>
        <p:spPr>
          <a:xfrm>
            <a:off x="4091925" y="3117981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1.</a:t>
            </a:r>
            <a:endParaRPr lang="en-US" sz="2000" b="1" dirty="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2DC6156-F72D-0A2E-7A71-1A6AFA35DC96}"/>
              </a:ext>
            </a:extLst>
          </p:cNvPr>
          <p:cNvSpPr txBox="1"/>
          <p:nvPr/>
        </p:nvSpPr>
        <p:spPr>
          <a:xfrm>
            <a:off x="4078070" y="1721819"/>
            <a:ext cx="11425142" cy="70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00"/>
              </a:lnSpc>
            </a:pPr>
            <a:r>
              <a:rPr lang="en-US" sz="4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Landasan</a:t>
            </a:r>
            <a:r>
              <a:rPr lang="en-US" sz="40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 Teori </a:t>
            </a:r>
            <a:r>
              <a:rPr lang="en-US" sz="4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Semiotika</a:t>
            </a:r>
            <a:endParaRPr lang="en-US" sz="4000" b="1" dirty="0">
              <a:solidFill>
                <a:srgbClr val="40A8CD"/>
              </a:solidFill>
              <a:latin typeface="Nourd Bold"/>
              <a:ea typeface="Nourd Bold"/>
              <a:cs typeface="Nourd Bold"/>
              <a:sym typeface="Nourd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DE2322DE-718C-369B-7C98-E5992F2EDB53}"/>
              </a:ext>
            </a:extLst>
          </p:cNvPr>
          <p:cNvSpPr txBox="1"/>
          <p:nvPr/>
        </p:nvSpPr>
        <p:spPr>
          <a:xfrm>
            <a:off x="5298836" y="3162300"/>
            <a:ext cx="10626966" cy="8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>
                <a:latin typeface="Nourd" panose="020B0604020202020204" charset="0"/>
              </a:rPr>
              <a:t>Framework Teori:</a:t>
            </a:r>
            <a:r>
              <a:rPr lang="id-ID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Menggunakan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teori</a:t>
            </a:r>
            <a:r>
              <a:rPr lang="en-US" sz="2800" dirty="0">
                <a:latin typeface="Nourd" panose="020B0604020202020204" charset="0"/>
              </a:rPr>
              <a:t> dua </a:t>
            </a:r>
            <a:r>
              <a:rPr lang="en-US" sz="2800" dirty="0" err="1">
                <a:latin typeface="Nourd" panose="020B0604020202020204" charset="0"/>
              </a:rPr>
              <a:t>tingkat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pemaknaan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dari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i="1" dirty="0">
                <a:latin typeface="Nourd" panose="020B0604020202020204" charset="0"/>
              </a:rPr>
              <a:t>Roland Barthes</a:t>
            </a:r>
            <a:r>
              <a:rPr lang="id-ID" sz="2800" dirty="0">
                <a:latin typeface="Nourd" panose="020B0604020202020204" charset="0"/>
              </a:rPr>
              <a:t>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A032958-23AF-8668-F026-9C2C2971511F}"/>
              </a:ext>
            </a:extLst>
          </p:cNvPr>
          <p:cNvSpPr/>
          <p:nvPr/>
        </p:nvSpPr>
        <p:spPr>
          <a:xfrm>
            <a:off x="4078070" y="4305300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3"/>
                </a:lnTo>
                <a:lnTo>
                  <a:pt x="0" y="87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2.</a:t>
            </a:r>
            <a:endParaRPr lang="en-US" sz="4000" b="1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64EF3DC-F56A-F67C-7ADF-51440122F4E2}"/>
              </a:ext>
            </a:extLst>
          </p:cNvPr>
          <p:cNvSpPr txBox="1"/>
          <p:nvPr/>
        </p:nvSpPr>
        <p:spPr>
          <a:xfrm>
            <a:off x="5222403" y="4306211"/>
            <a:ext cx="10703398" cy="8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 err="1">
                <a:latin typeface="Nourd" panose="020B0604020202020204" charset="0"/>
              </a:rPr>
              <a:t>Denotasi</a:t>
            </a:r>
            <a:r>
              <a:rPr lang="en-US" sz="2800" b="1" dirty="0">
                <a:latin typeface="Nourd" panose="020B0604020202020204" charset="0"/>
              </a:rPr>
              <a:t> (Tingkat I):</a:t>
            </a:r>
            <a:r>
              <a:rPr lang="en-US" sz="2800" dirty="0">
                <a:latin typeface="Nourd" panose="020B0604020202020204" charset="0"/>
              </a:rPr>
              <a:t> Early Leaf Spot, Late Leaf Spot, Early Rust, Rust, Nutrition Deficiency, and Healthy Leaf.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B6A8A8AC-E701-DB64-D4C1-34E753CD7177}"/>
              </a:ext>
            </a:extLst>
          </p:cNvPr>
          <p:cNvSpPr/>
          <p:nvPr/>
        </p:nvSpPr>
        <p:spPr>
          <a:xfrm>
            <a:off x="4008565" y="5500253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3.</a:t>
            </a:r>
            <a:endParaRPr lang="en-US" sz="4000" b="1" dirty="0"/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F5E96F1-9F3E-F49D-5135-7998026D362E}"/>
              </a:ext>
            </a:extLst>
          </p:cNvPr>
          <p:cNvSpPr txBox="1"/>
          <p:nvPr/>
        </p:nvSpPr>
        <p:spPr>
          <a:xfrm>
            <a:off x="5222402" y="5500253"/>
            <a:ext cx="10703399" cy="8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 err="1">
                <a:latin typeface="Nourd" panose="020B0604020202020204" charset="0"/>
              </a:rPr>
              <a:t>Konotasi</a:t>
            </a:r>
            <a:r>
              <a:rPr lang="en-US" sz="2800" b="1" dirty="0">
                <a:latin typeface="Nourd" panose="020B0604020202020204" charset="0"/>
              </a:rPr>
              <a:t> (Tingkat II):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Makna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kultural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atau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ideologis</a:t>
            </a:r>
            <a:r>
              <a:rPr lang="en-US" sz="2800" dirty="0">
                <a:latin typeface="Nourd" panose="020B0604020202020204" charset="0"/>
              </a:rPr>
              <a:t> yang </a:t>
            </a:r>
            <a:r>
              <a:rPr lang="en-US" sz="2800" dirty="0" err="1">
                <a:latin typeface="Nourd" panose="020B0604020202020204" charset="0"/>
              </a:rPr>
              <a:t>dibangun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dari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tanda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denotatif</a:t>
            </a:r>
            <a:r>
              <a:rPr lang="en-US" sz="2800" dirty="0">
                <a:latin typeface="Nourd" panose="020B0604020202020204" charset="0"/>
              </a:rPr>
              <a:t>.</a:t>
            </a:r>
            <a:endParaRPr lang="en-US" sz="2499" i="1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0B299C36-D3F6-A0FB-0096-A4506993855B}"/>
              </a:ext>
            </a:extLst>
          </p:cNvPr>
          <p:cNvSpPr/>
          <p:nvPr/>
        </p:nvSpPr>
        <p:spPr>
          <a:xfrm>
            <a:off x="4008565" y="6793552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4.</a:t>
            </a:r>
            <a:endParaRPr lang="en-US" sz="4000" b="1" dirty="0"/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812A9D63-6BB6-EE6F-3F0B-8D4744B1A443}"/>
              </a:ext>
            </a:extLst>
          </p:cNvPr>
          <p:cNvSpPr txBox="1"/>
          <p:nvPr/>
        </p:nvSpPr>
        <p:spPr>
          <a:xfrm>
            <a:off x="5222402" y="6793552"/>
            <a:ext cx="10703399" cy="8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 err="1">
                <a:latin typeface="Nourd" panose="020B0604020202020204" charset="0"/>
              </a:rPr>
              <a:t>Anotasi</a:t>
            </a:r>
            <a:r>
              <a:rPr lang="en-US" sz="2800" b="1" dirty="0">
                <a:latin typeface="Nourd" panose="020B0604020202020204" charset="0"/>
              </a:rPr>
              <a:t> AI: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sv-SE" sz="2800" dirty="0">
                <a:latin typeface="Nourd" panose="020B0604020202020204" charset="0"/>
              </a:rPr>
              <a:t>Kelas konotasi ini akan menjadi label </a:t>
            </a:r>
            <a:r>
              <a:rPr lang="sv-SE" sz="2800" i="1" dirty="0">
                <a:latin typeface="Nourd" panose="020B0604020202020204" charset="0"/>
              </a:rPr>
              <a:t>Ground Truth</a:t>
            </a:r>
            <a:r>
              <a:rPr lang="sv-SE" sz="2800" dirty="0">
                <a:latin typeface="Nourd" panose="020B0604020202020204" charset="0"/>
              </a:rPr>
              <a:t>, misalnya citra "Premium Tradisional" atau "</a:t>
            </a:r>
            <a:r>
              <a:rPr lang="sv-SE" sz="2800" i="1" dirty="0">
                <a:latin typeface="Nourd" panose="020B0604020202020204" charset="0"/>
              </a:rPr>
              <a:t>Pop &amp; </a:t>
            </a:r>
            <a:r>
              <a:rPr lang="id-ID" sz="2800" i="1" dirty="0" err="1">
                <a:latin typeface="Nourd" panose="020B0604020202020204" charset="0"/>
              </a:rPr>
              <a:t>Casual</a:t>
            </a:r>
            <a:r>
              <a:rPr lang="sv-SE" sz="2800" i="1" dirty="0">
                <a:latin typeface="Nourd" panose="020B0604020202020204" charset="0"/>
              </a:rPr>
              <a:t> Modern</a:t>
            </a:r>
            <a:r>
              <a:rPr lang="sv-SE" sz="2800" dirty="0">
                <a:latin typeface="Nourd" panose="020B0604020202020204" charset="0"/>
              </a:rPr>
              <a:t>"</a:t>
            </a:r>
            <a:r>
              <a:rPr lang="en-US" sz="2800" dirty="0">
                <a:latin typeface="Nourd" panose="020B0604020202020204" charset="0"/>
              </a:rPr>
              <a:t>.</a:t>
            </a:r>
            <a:endParaRPr lang="en-US" sz="2499" i="1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32" name="TextBox 18">
            <a:extLst>
              <a:ext uri="{FF2B5EF4-FFF2-40B4-BE49-F238E27FC236}">
                <a16:creationId xmlns:a16="http://schemas.microsoft.com/office/drawing/2014/main" id="{1925AEF1-DA6D-42F9-16EE-70817594FE75}"/>
              </a:ext>
            </a:extLst>
          </p:cNvPr>
          <p:cNvSpPr txBox="1"/>
          <p:nvPr/>
        </p:nvSpPr>
        <p:spPr>
          <a:xfrm>
            <a:off x="12767431" y="8983286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38" name="Freeform 29">
            <a:extLst>
              <a:ext uri="{FF2B5EF4-FFF2-40B4-BE49-F238E27FC236}">
                <a16:creationId xmlns:a16="http://schemas.microsoft.com/office/drawing/2014/main" id="{673D7B40-71C9-B5E2-CBF4-7A97CA11FB28}"/>
              </a:ext>
            </a:extLst>
          </p:cNvPr>
          <p:cNvSpPr/>
          <p:nvPr/>
        </p:nvSpPr>
        <p:spPr>
          <a:xfrm>
            <a:off x="14196075" y="361448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39" y="0"/>
                </a:lnTo>
                <a:lnTo>
                  <a:pt x="2848039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CAC9A75-B926-87B2-1BC4-8E60AB05E23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4114" y="419109"/>
            <a:ext cx="1030039" cy="10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37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3F86E-30FE-4480-D859-AE17CF4D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EFFA072-B754-A0C6-8C58-B2DBD5CDE9B4}"/>
              </a:ext>
            </a:extLst>
          </p:cNvPr>
          <p:cNvSpPr/>
          <p:nvPr/>
        </p:nvSpPr>
        <p:spPr>
          <a:xfrm rot="-5400000">
            <a:off x="-3451814" y="264656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EBD6116-310B-60D6-859E-AFF52EC3603D}"/>
              </a:ext>
            </a:extLst>
          </p:cNvPr>
          <p:cNvSpPr/>
          <p:nvPr/>
        </p:nvSpPr>
        <p:spPr>
          <a:xfrm rot="-5400000">
            <a:off x="-3451814" y="5480210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26AAA26-36DF-2313-B872-B4AA885CF53B}"/>
              </a:ext>
            </a:extLst>
          </p:cNvPr>
          <p:cNvSpPr/>
          <p:nvPr/>
        </p:nvSpPr>
        <p:spPr>
          <a:xfrm rot="-5400000">
            <a:off x="-3759899" y="291457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1C66D59-DA1C-1B69-4F10-8669E5A542A9}"/>
              </a:ext>
            </a:extLst>
          </p:cNvPr>
          <p:cNvSpPr/>
          <p:nvPr/>
        </p:nvSpPr>
        <p:spPr>
          <a:xfrm rot="-5400000">
            <a:off x="-3759899" y="574821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7FF558F-0750-C742-B4B0-36DAED4A29AA}"/>
              </a:ext>
            </a:extLst>
          </p:cNvPr>
          <p:cNvSpPr/>
          <p:nvPr/>
        </p:nvSpPr>
        <p:spPr>
          <a:xfrm rot="-10800000">
            <a:off x="-312917" y="1711428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323BBA8-E739-FF2C-FED4-4E0AB90F5D82}"/>
              </a:ext>
            </a:extLst>
          </p:cNvPr>
          <p:cNvSpPr/>
          <p:nvPr/>
        </p:nvSpPr>
        <p:spPr>
          <a:xfrm rot="5400000">
            <a:off x="1738434" y="1711428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6" y="0"/>
                </a:lnTo>
                <a:lnTo>
                  <a:pt x="1202676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F5DC89D-7D71-2895-4BA2-5767EF9C7EF5}"/>
              </a:ext>
            </a:extLst>
          </p:cNvPr>
          <p:cNvSpPr/>
          <p:nvPr/>
        </p:nvSpPr>
        <p:spPr>
          <a:xfrm rot="-10800000">
            <a:off x="1706937" y="425887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1"/>
                </a:lnTo>
                <a:lnTo>
                  <a:pt x="0" y="1168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A5DC65F-2E05-5722-C4AB-885D71661401}"/>
              </a:ext>
            </a:extLst>
          </p:cNvPr>
          <p:cNvSpPr/>
          <p:nvPr/>
        </p:nvSpPr>
        <p:spPr>
          <a:xfrm rot="5494193">
            <a:off x="-288851" y="-31700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1" y="0"/>
                </a:lnTo>
                <a:lnTo>
                  <a:pt x="1886071" y="1886072"/>
                </a:lnTo>
                <a:lnTo>
                  <a:pt x="0" y="188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0D3D01A-DB84-1C0F-8F26-2DF761CC4C7D}"/>
              </a:ext>
            </a:extLst>
          </p:cNvPr>
          <p:cNvSpPr/>
          <p:nvPr/>
        </p:nvSpPr>
        <p:spPr>
          <a:xfrm rot="-10800000">
            <a:off x="2875597" y="933613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1" y="0"/>
                </a:lnTo>
                <a:lnTo>
                  <a:pt x="4888041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6AB0665-55CF-76E1-5BE4-BFA39A8979D3}"/>
              </a:ext>
            </a:extLst>
          </p:cNvPr>
          <p:cNvSpPr/>
          <p:nvPr/>
        </p:nvSpPr>
        <p:spPr>
          <a:xfrm rot="-10800000">
            <a:off x="7782688" y="933749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983F683-2CBB-368A-31A3-7FDE18319DBE}"/>
              </a:ext>
            </a:extLst>
          </p:cNvPr>
          <p:cNvSpPr/>
          <p:nvPr/>
        </p:nvSpPr>
        <p:spPr>
          <a:xfrm rot="-10800000">
            <a:off x="12689778" y="9338853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426840C-DCFA-63E2-FCA0-D484CABA4A2F}"/>
              </a:ext>
            </a:extLst>
          </p:cNvPr>
          <p:cNvGrpSpPr/>
          <p:nvPr/>
        </p:nvGrpSpPr>
        <p:grpSpPr>
          <a:xfrm>
            <a:off x="2875597" y="9127948"/>
            <a:ext cx="15731854" cy="1880081"/>
            <a:chOff x="0" y="0"/>
            <a:chExt cx="4143369" cy="49516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6D1F813-405D-3C79-FB26-E83E6B5B2164}"/>
                </a:ext>
              </a:extLst>
            </p:cNvPr>
            <p:cNvSpPr/>
            <p:nvPr/>
          </p:nvSpPr>
          <p:spPr>
            <a:xfrm>
              <a:off x="0" y="0"/>
              <a:ext cx="4143369" cy="495165"/>
            </a:xfrm>
            <a:custGeom>
              <a:avLst/>
              <a:gdLst/>
              <a:ahLst/>
              <a:cxnLst/>
              <a:rect l="l" t="t" r="r" b="b"/>
              <a:pathLst>
                <a:path w="4143369" h="495165">
                  <a:moveTo>
                    <a:pt x="0" y="0"/>
                  </a:moveTo>
                  <a:lnTo>
                    <a:pt x="4143369" y="0"/>
                  </a:lnTo>
                  <a:lnTo>
                    <a:pt x="4143369" y="495165"/>
                  </a:lnTo>
                  <a:lnTo>
                    <a:pt x="0" y="4951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71000"/>
                  </a:srgbClr>
                </a:gs>
                <a:gs pos="66667">
                  <a:srgbClr val="FFFFFF">
                    <a:alpha val="54000"/>
                  </a:srgbClr>
                </a:gs>
                <a:gs pos="100000">
                  <a:srgbClr val="FFFFFF">
                    <a:alpha val="21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7C7AC18-3D08-1FF0-92AF-A666232C7DD8}"/>
                </a:ext>
              </a:extLst>
            </p:cNvPr>
            <p:cNvSpPr txBox="1"/>
            <p:nvPr/>
          </p:nvSpPr>
          <p:spPr>
            <a:xfrm>
              <a:off x="0" y="-38100"/>
              <a:ext cx="4143369" cy="533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C7C0CFC4-F063-A65D-4B79-BC77582753D1}"/>
              </a:ext>
            </a:extLst>
          </p:cNvPr>
          <p:cNvSpPr/>
          <p:nvPr/>
        </p:nvSpPr>
        <p:spPr>
          <a:xfrm rot="-10800000">
            <a:off x="8689419" y="9127948"/>
            <a:ext cx="9281250" cy="4640625"/>
          </a:xfrm>
          <a:custGeom>
            <a:avLst/>
            <a:gdLst/>
            <a:ahLst/>
            <a:cxnLst/>
            <a:rect l="l" t="t" r="r" b="b"/>
            <a:pathLst>
              <a:path w="9281250" h="4640625">
                <a:moveTo>
                  <a:pt x="0" y="0"/>
                </a:moveTo>
                <a:lnTo>
                  <a:pt x="9281250" y="0"/>
                </a:lnTo>
                <a:lnTo>
                  <a:pt x="9281250" y="4640625"/>
                </a:lnTo>
                <a:lnTo>
                  <a:pt x="0" y="464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273436C-50ED-9284-BCEA-BC15925BE09A}"/>
              </a:ext>
            </a:extLst>
          </p:cNvPr>
          <p:cNvSpPr/>
          <p:nvPr/>
        </p:nvSpPr>
        <p:spPr>
          <a:xfrm rot="-10800000" flipH="1">
            <a:off x="971550" y="-3324521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9"/>
                </a:lnTo>
                <a:lnTo>
                  <a:pt x="7334017" y="3667009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CCC9C14-EEAF-DB22-DA74-79AA3BC7CE87}"/>
              </a:ext>
            </a:extLst>
          </p:cNvPr>
          <p:cNvGrpSpPr/>
          <p:nvPr/>
        </p:nvGrpSpPr>
        <p:grpSpPr>
          <a:xfrm rot="-10800000">
            <a:off x="8268687" y="-342488"/>
            <a:ext cx="10923063" cy="684975"/>
            <a:chOff x="0" y="0"/>
            <a:chExt cx="2891335" cy="18131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D508B60-0476-0D41-0A98-37C4125E7820}"/>
                </a:ext>
              </a:extLst>
            </p:cNvPr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ADE8766C-C269-E483-D455-E142B5328FF8}"/>
                </a:ext>
              </a:extLst>
            </p:cNvPr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22" name="TextBox 22">
            <a:extLst>
              <a:ext uri="{FF2B5EF4-FFF2-40B4-BE49-F238E27FC236}">
                <a16:creationId xmlns:a16="http://schemas.microsoft.com/office/drawing/2014/main" id="{83548BEA-14EC-4B4D-7441-DB52AD3A7AA2}"/>
              </a:ext>
            </a:extLst>
          </p:cNvPr>
          <p:cNvSpPr txBox="1"/>
          <p:nvPr/>
        </p:nvSpPr>
        <p:spPr>
          <a:xfrm>
            <a:off x="4091924" y="1562100"/>
            <a:ext cx="12457641" cy="697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it-IT" sz="36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Arsitektur Multimodal AI (Pembaruan Implementasi)</a:t>
            </a:r>
            <a:endParaRPr lang="en-US" sz="3600" b="1" dirty="0">
              <a:solidFill>
                <a:srgbClr val="40A8CD"/>
              </a:solidFill>
              <a:latin typeface="Nourd Bold"/>
              <a:ea typeface="Nourd Bold"/>
              <a:cs typeface="Nourd Bold"/>
              <a:sym typeface="Nourd Bold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3C1E0B-F2F1-3E7F-ED4B-704A33F46650}"/>
              </a:ext>
            </a:extLst>
          </p:cNvPr>
          <p:cNvGrpSpPr/>
          <p:nvPr/>
        </p:nvGrpSpPr>
        <p:grpSpPr>
          <a:xfrm>
            <a:off x="4091925" y="2552700"/>
            <a:ext cx="12748275" cy="1308179"/>
            <a:chOff x="4091925" y="2552700"/>
            <a:chExt cx="12748275" cy="130817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D02379F-3C85-16C4-2126-D5C7D0C08F77}"/>
                </a:ext>
              </a:extLst>
            </p:cNvPr>
            <p:cNvSpPr/>
            <p:nvPr/>
          </p:nvSpPr>
          <p:spPr>
            <a:xfrm>
              <a:off x="4091925" y="2552700"/>
              <a:ext cx="945318" cy="870422"/>
            </a:xfrm>
            <a:custGeom>
              <a:avLst/>
              <a:gdLst/>
              <a:ahLst/>
              <a:cxnLst/>
              <a:rect l="l" t="t" r="r" b="b"/>
              <a:pathLst>
                <a:path w="870422" h="870422">
                  <a:moveTo>
                    <a:pt x="0" y="0"/>
                  </a:moveTo>
                  <a:lnTo>
                    <a:pt x="870422" y="0"/>
                  </a:lnTo>
                  <a:lnTo>
                    <a:pt x="870422" y="870422"/>
                  </a:lnTo>
                  <a:lnTo>
                    <a:pt x="0" y="87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ctr"/>
              <a:r>
                <a:rPr lang="id-ID" sz="4000" b="1" dirty="0"/>
                <a:t>1.</a:t>
              </a:r>
              <a:endParaRPr lang="en-US" sz="2000" b="1" dirty="0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447EB2C-61E2-59E3-ABF9-751F392307FE}"/>
                </a:ext>
              </a:extLst>
            </p:cNvPr>
            <p:cNvSpPr txBox="1"/>
            <p:nvPr/>
          </p:nvSpPr>
          <p:spPr>
            <a:xfrm>
              <a:off x="5298836" y="2552700"/>
              <a:ext cx="11541364" cy="13081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00" b="1" dirty="0">
                  <a:latin typeface="Nourd" panose="020B0604020202020204" charset="0"/>
                </a:rPr>
                <a:t>Automated Content-Based Filtering: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Pemfilteran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ganda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menggunakan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i="1" dirty="0">
                  <a:latin typeface="Nourd" panose="020B0604020202020204" charset="0"/>
                </a:rPr>
                <a:t>Rule-Based Unicode Regex</a:t>
              </a:r>
              <a:r>
                <a:rPr lang="en-US" sz="2400" dirty="0">
                  <a:latin typeface="Nourd" panose="020B0604020202020204" charset="0"/>
                </a:rPr>
                <a:t> dan </a:t>
              </a:r>
              <a:r>
                <a:rPr lang="en-US" sz="2400" b="1" dirty="0">
                  <a:latin typeface="Nourd" panose="020B0604020202020204" charset="0"/>
                </a:rPr>
                <a:t>DeepSeek LLM API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untuk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menyeleksi</a:t>
              </a:r>
              <a:r>
                <a:rPr lang="en-US" sz="2400" dirty="0">
                  <a:latin typeface="Nourd" panose="020B0604020202020204" charset="0"/>
                </a:rPr>
                <a:t> 5 </a:t>
              </a:r>
              <a:r>
                <a:rPr lang="en-US" sz="2400" dirty="0" err="1">
                  <a:latin typeface="Nourd" panose="020B0604020202020204" charset="0"/>
                </a:rPr>
                <a:t>kriteria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klasifikasi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i="1" dirty="0" err="1">
                  <a:latin typeface="Nourd" panose="020B0604020202020204" charset="0"/>
                </a:rPr>
                <a:t>Japanization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secara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akurat</a:t>
              </a:r>
              <a:r>
                <a:rPr lang="en-US" sz="2400" dirty="0">
                  <a:latin typeface="Nourd" panose="020B0604020202020204" charset="0"/>
                </a:rPr>
                <a:t> dan </a:t>
              </a:r>
              <a:r>
                <a:rPr lang="en-US" sz="2400" dirty="0" err="1">
                  <a:latin typeface="Nourd" panose="020B0604020202020204" charset="0"/>
                </a:rPr>
                <a:t>efisien</a:t>
              </a:r>
              <a:r>
                <a:rPr lang="id-ID" sz="2400" dirty="0">
                  <a:latin typeface="Nourd" panose="020B0604020202020204" charset="0"/>
                </a:rPr>
                <a:t>.</a:t>
              </a:r>
              <a:endParaRPr lang="en-US" sz="2400" b="1" dirty="0">
                <a:solidFill>
                  <a:srgbClr val="04223C"/>
                </a:solidFill>
                <a:latin typeface="Nourd" panose="020B0604020202020204" charset="0"/>
                <a:ea typeface="Nourd"/>
                <a:cs typeface="Nourd"/>
                <a:sym typeface="Nourd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79775D3-B150-E74A-33E9-569B5BFAC926}"/>
              </a:ext>
            </a:extLst>
          </p:cNvPr>
          <p:cNvGrpSpPr/>
          <p:nvPr/>
        </p:nvGrpSpPr>
        <p:grpSpPr>
          <a:xfrm>
            <a:off x="4078070" y="4076700"/>
            <a:ext cx="12762129" cy="1320490"/>
            <a:chOff x="4078070" y="3720790"/>
            <a:chExt cx="12762129" cy="132049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3235B390-6410-E3FB-1E5C-579F37D067D4}"/>
                </a:ext>
              </a:extLst>
            </p:cNvPr>
            <p:cNvSpPr/>
            <p:nvPr/>
          </p:nvSpPr>
          <p:spPr>
            <a:xfrm>
              <a:off x="4078070" y="3720790"/>
              <a:ext cx="870422" cy="870422"/>
            </a:xfrm>
            <a:custGeom>
              <a:avLst/>
              <a:gdLst/>
              <a:ahLst/>
              <a:cxnLst/>
              <a:rect l="l" t="t" r="r" b="b"/>
              <a:pathLst>
                <a:path w="870422" h="870422">
                  <a:moveTo>
                    <a:pt x="0" y="0"/>
                  </a:moveTo>
                  <a:lnTo>
                    <a:pt x="870422" y="0"/>
                  </a:lnTo>
                  <a:lnTo>
                    <a:pt x="870422" y="870423"/>
                  </a:lnTo>
                  <a:lnTo>
                    <a:pt x="0" y="870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ctr"/>
              <a:r>
                <a:rPr lang="id-ID" sz="4000" b="1" dirty="0"/>
                <a:t>2.</a:t>
              </a:r>
              <a:endParaRPr lang="en-US" sz="4000" b="1" dirty="0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B08C225F-21CD-49D3-7843-CAEB3AB97F24}"/>
                </a:ext>
              </a:extLst>
            </p:cNvPr>
            <p:cNvSpPr txBox="1"/>
            <p:nvPr/>
          </p:nvSpPr>
          <p:spPr>
            <a:xfrm>
              <a:off x="5222402" y="3720790"/>
              <a:ext cx="11617797" cy="13204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00" b="1" dirty="0" err="1">
                  <a:latin typeface="Nourd" panose="020B0604020202020204" charset="0"/>
                </a:rPr>
                <a:t>Ekstraksi</a:t>
              </a:r>
              <a:r>
                <a:rPr lang="en-US" sz="2400" b="1" dirty="0">
                  <a:latin typeface="Nourd" panose="020B0604020202020204" charset="0"/>
                </a:rPr>
                <a:t> </a:t>
              </a:r>
              <a:r>
                <a:rPr lang="en-US" sz="2400" b="1" dirty="0" err="1">
                  <a:latin typeface="Nourd" panose="020B0604020202020204" charset="0"/>
                </a:rPr>
                <a:t>Semantik</a:t>
              </a:r>
              <a:r>
                <a:rPr lang="en-US" sz="2400" b="1" dirty="0">
                  <a:latin typeface="Nourd" panose="020B0604020202020204" charset="0"/>
                </a:rPr>
                <a:t> (Layer 2):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Pemanfaatan</a:t>
              </a:r>
              <a:r>
                <a:rPr lang="en-US" sz="2400" dirty="0">
                  <a:latin typeface="Nourd" panose="020B0604020202020204" charset="0"/>
                </a:rPr>
                <a:t> base model </a:t>
              </a:r>
              <a:r>
                <a:rPr lang="en-US" sz="2400" dirty="0" err="1">
                  <a:latin typeface="Nourd" panose="020B0604020202020204" charset="0"/>
                </a:rPr>
                <a:t>YomiToku</a:t>
              </a:r>
              <a:r>
                <a:rPr lang="en-US" sz="2400" dirty="0">
                  <a:latin typeface="Nourd" panose="020B0604020202020204" charset="0"/>
                </a:rPr>
                <a:t> sebagai feature extractor </a:t>
              </a:r>
              <a:r>
                <a:rPr lang="en-US" sz="2400" dirty="0" err="1">
                  <a:latin typeface="Nourd" panose="020B0604020202020204" charset="0"/>
                </a:rPr>
                <a:t>untuk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membaca</a:t>
              </a:r>
              <a:r>
                <a:rPr lang="en-US" sz="2400" dirty="0">
                  <a:latin typeface="Nourd" panose="020B0604020202020204" charset="0"/>
                </a:rPr>
                <a:t> tata </a:t>
              </a:r>
              <a:r>
                <a:rPr lang="en-US" sz="2400" dirty="0" err="1">
                  <a:latin typeface="Nourd" panose="020B0604020202020204" charset="0"/>
                </a:rPr>
                <a:t>letak</a:t>
              </a:r>
              <a:r>
                <a:rPr lang="en-US" sz="2400" dirty="0">
                  <a:latin typeface="Nourd" panose="020B0604020202020204" charset="0"/>
                </a:rPr>
                <a:t> (OCR) </a:t>
              </a:r>
              <a:r>
                <a:rPr lang="en-US" sz="2400" dirty="0" err="1">
                  <a:latin typeface="Nourd" panose="020B0604020202020204" charset="0"/>
                </a:rPr>
                <a:t>aksara</a:t>
              </a:r>
              <a:r>
                <a:rPr lang="en-US" sz="2400" dirty="0">
                  <a:latin typeface="Nourd" panose="020B0604020202020204" charset="0"/>
                </a:rPr>
                <a:t> Kanji, Hiragana, dan Katakana.</a:t>
              </a:r>
              <a:endParaRPr lang="en-US" sz="2400" dirty="0">
                <a:solidFill>
                  <a:srgbClr val="04223C"/>
                </a:solidFill>
                <a:latin typeface="Nourd" panose="020B0604020202020204" charset="0"/>
                <a:ea typeface="Nourd"/>
                <a:cs typeface="Nourd"/>
                <a:sym typeface="Nourd"/>
              </a:endParaRPr>
            </a:p>
          </p:txBody>
        </p:sp>
      </p:grpSp>
      <p:sp>
        <p:nvSpPr>
          <p:cNvPr id="32" name="TextBox 18">
            <a:extLst>
              <a:ext uri="{FF2B5EF4-FFF2-40B4-BE49-F238E27FC236}">
                <a16:creationId xmlns:a16="http://schemas.microsoft.com/office/drawing/2014/main" id="{DAF80A48-D4E6-6253-C269-F981C0129F54}"/>
              </a:ext>
            </a:extLst>
          </p:cNvPr>
          <p:cNvSpPr txBox="1"/>
          <p:nvPr/>
        </p:nvSpPr>
        <p:spPr>
          <a:xfrm>
            <a:off x="12767431" y="8983286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37" name="Freeform 27">
            <a:extLst>
              <a:ext uri="{FF2B5EF4-FFF2-40B4-BE49-F238E27FC236}">
                <a16:creationId xmlns:a16="http://schemas.microsoft.com/office/drawing/2014/main" id="{1F0C16CC-F4CF-106F-D7FD-353D1CC76F73}"/>
              </a:ext>
            </a:extLst>
          </p:cNvPr>
          <p:cNvSpPr/>
          <p:nvPr/>
        </p:nvSpPr>
        <p:spPr>
          <a:xfrm>
            <a:off x="4001638" y="7518861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4.</a:t>
            </a:r>
            <a:endParaRPr lang="en-US" sz="4000" b="1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7BB4B92-D396-3387-5CC1-FB18FA595433}"/>
              </a:ext>
            </a:extLst>
          </p:cNvPr>
          <p:cNvGrpSpPr/>
          <p:nvPr/>
        </p:nvGrpSpPr>
        <p:grpSpPr>
          <a:xfrm>
            <a:off x="4008565" y="5448300"/>
            <a:ext cx="12831633" cy="1769331"/>
            <a:chOff x="4008565" y="5600700"/>
            <a:chExt cx="12831633" cy="1769331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808C000F-D8D6-D531-5DE7-D24D546F1815}"/>
                </a:ext>
              </a:extLst>
            </p:cNvPr>
            <p:cNvSpPr/>
            <p:nvPr/>
          </p:nvSpPr>
          <p:spPr>
            <a:xfrm>
              <a:off x="4008565" y="5600700"/>
              <a:ext cx="870422" cy="870422"/>
            </a:xfrm>
            <a:custGeom>
              <a:avLst/>
              <a:gdLst/>
              <a:ahLst/>
              <a:cxnLst/>
              <a:rect l="l" t="t" r="r" b="b"/>
              <a:pathLst>
                <a:path w="870422" h="870422">
                  <a:moveTo>
                    <a:pt x="0" y="0"/>
                  </a:moveTo>
                  <a:lnTo>
                    <a:pt x="870422" y="0"/>
                  </a:lnTo>
                  <a:lnTo>
                    <a:pt x="870422" y="870422"/>
                  </a:lnTo>
                  <a:lnTo>
                    <a:pt x="0" y="870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ctr"/>
              <a:r>
                <a:rPr lang="id-ID" sz="4000" b="1" dirty="0"/>
                <a:t>3.</a:t>
              </a:r>
              <a:endParaRPr lang="en-US" sz="4000" b="1" dirty="0"/>
            </a:p>
          </p:txBody>
        </p:sp>
        <p:sp>
          <p:nvSpPr>
            <p:cNvPr id="38" name="TextBox 26">
              <a:extLst>
                <a:ext uri="{FF2B5EF4-FFF2-40B4-BE49-F238E27FC236}">
                  <a16:creationId xmlns:a16="http://schemas.microsoft.com/office/drawing/2014/main" id="{18E10B86-F339-702C-A89D-A8B2CCA9F20A}"/>
                </a:ext>
              </a:extLst>
            </p:cNvPr>
            <p:cNvSpPr txBox="1"/>
            <p:nvPr/>
          </p:nvSpPr>
          <p:spPr>
            <a:xfrm>
              <a:off x="5222401" y="5600700"/>
              <a:ext cx="11617797" cy="17693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499"/>
                </a:lnSpc>
              </a:pPr>
              <a:r>
                <a:rPr lang="en-US" sz="2400" b="1" dirty="0" err="1">
                  <a:latin typeface="Nourd" panose="020B0604020202020204" charset="0"/>
                </a:rPr>
                <a:t>Ekstraksi</a:t>
              </a:r>
              <a:r>
                <a:rPr lang="en-US" sz="2400" b="1" dirty="0">
                  <a:latin typeface="Nourd" panose="020B0604020202020204" charset="0"/>
                </a:rPr>
                <a:t> Visual:</a:t>
              </a:r>
              <a:r>
                <a:rPr lang="id-ID" sz="2400" b="1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Menggunakan</a:t>
              </a:r>
              <a:r>
                <a:rPr lang="en-US" sz="2400" dirty="0">
                  <a:latin typeface="Nourd" panose="020B0604020202020204" charset="0"/>
                </a:rPr>
                <a:t> Transfer Learning CNN </a:t>
              </a:r>
              <a:r>
                <a:rPr lang="en-US" sz="2400" dirty="0" err="1">
                  <a:latin typeface="Nourd" panose="020B0604020202020204" charset="0"/>
                </a:rPr>
                <a:t>dengan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arsitektur</a:t>
              </a:r>
              <a:r>
                <a:rPr lang="en-US" sz="2400" dirty="0">
                  <a:latin typeface="Nourd" panose="020B0604020202020204" charset="0"/>
                </a:rPr>
                <a:t> EfficientNetB0 (</a:t>
              </a:r>
              <a:r>
                <a:rPr lang="en-US" sz="2400" dirty="0" err="1">
                  <a:latin typeface="Nourd" panose="020B0604020202020204" charset="0"/>
                </a:rPr>
                <a:t>dipilih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berdasarkan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efisiensi</a:t>
              </a:r>
              <a:r>
                <a:rPr lang="en-US" sz="2400" dirty="0">
                  <a:latin typeface="Nourd" panose="020B0604020202020204" charset="0"/>
                </a:rPr>
                <a:t> parameter dan proven track record </a:t>
              </a:r>
              <a:r>
                <a:rPr lang="en-US" sz="2400" dirty="0" err="1">
                  <a:latin typeface="Nourd" panose="020B0604020202020204" charset="0"/>
                </a:rPr>
                <a:t>dari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riset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sebelumnya</a:t>
              </a:r>
              <a:r>
                <a:rPr lang="en-US" sz="2400" dirty="0">
                  <a:latin typeface="Nourd" panose="020B0604020202020204" charset="0"/>
                </a:rPr>
                <a:t>) </a:t>
              </a:r>
              <a:r>
                <a:rPr lang="en-US" sz="2400" dirty="0" err="1">
                  <a:latin typeface="Nourd" panose="020B0604020202020204" charset="0"/>
                </a:rPr>
                <a:t>untuk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mengekstrak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komposisi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warna</a:t>
              </a:r>
              <a:r>
                <a:rPr lang="en-US" sz="2400" dirty="0">
                  <a:latin typeface="Nourd" panose="020B0604020202020204" charset="0"/>
                </a:rPr>
                <a:t>, tata </a:t>
              </a:r>
              <a:r>
                <a:rPr lang="en-US" sz="2400" dirty="0" err="1">
                  <a:latin typeface="Nourd" panose="020B0604020202020204" charset="0"/>
                </a:rPr>
                <a:t>letak</a:t>
              </a:r>
              <a:r>
                <a:rPr lang="en-US" sz="2400" dirty="0">
                  <a:latin typeface="Nourd" panose="020B0604020202020204" charset="0"/>
                </a:rPr>
                <a:t>, dan </a:t>
              </a:r>
              <a:r>
                <a:rPr lang="en-US" sz="2400" dirty="0" err="1">
                  <a:latin typeface="Nourd" panose="020B0604020202020204" charset="0"/>
                </a:rPr>
                <a:t>elemen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grafis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kemasan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secara</a:t>
              </a:r>
              <a:r>
                <a:rPr lang="en-US" sz="2400" dirty="0">
                  <a:latin typeface="Nourd" panose="020B0604020202020204" charset="0"/>
                </a:rPr>
                <a:t> </a:t>
              </a:r>
              <a:r>
                <a:rPr lang="en-US" sz="2400" dirty="0" err="1">
                  <a:latin typeface="Nourd" panose="020B0604020202020204" charset="0"/>
                </a:rPr>
                <a:t>presisi</a:t>
              </a:r>
              <a:r>
                <a:rPr lang="en-US" sz="2400" dirty="0">
                  <a:latin typeface="Nourd" panose="020B0604020202020204" charset="0"/>
                </a:rPr>
                <a:t>.</a:t>
              </a:r>
              <a:endParaRPr lang="en-US" sz="2400" dirty="0">
                <a:solidFill>
                  <a:srgbClr val="04223C"/>
                </a:solidFill>
                <a:latin typeface="Nourd" panose="020B0604020202020204" charset="0"/>
                <a:ea typeface="Nourd"/>
                <a:cs typeface="Nourd"/>
                <a:sym typeface="Nourd"/>
              </a:endParaRPr>
            </a:p>
          </p:txBody>
        </p:sp>
      </p:grpSp>
      <p:sp>
        <p:nvSpPr>
          <p:cNvPr id="39" name="TextBox 26">
            <a:extLst>
              <a:ext uri="{FF2B5EF4-FFF2-40B4-BE49-F238E27FC236}">
                <a16:creationId xmlns:a16="http://schemas.microsoft.com/office/drawing/2014/main" id="{3E9150CE-353C-A439-206D-6CDD1D878C49}"/>
              </a:ext>
            </a:extLst>
          </p:cNvPr>
          <p:cNvSpPr txBox="1"/>
          <p:nvPr/>
        </p:nvSpPr>
        <p:spPr>
          <a:xfrm>
            <a:off x="5222401" y="7518861"/>
            <a:ext cx="11617797" cy="859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00" b="1" dirty="0">
                <a:latin typeface="Nourd" panose="020B0604020202020204" charset="0"/>
              </a:rPr>
              <a:t>Multimodal Fusion:</a:t>
            </a:r>
            <a:r>
              <a:rPr lang="en-US" sz="2400" dirty="0">
                <a:latin typeface="Nourd" panose="020B0604020202020204" charset="0"/>
              </a:rPr>
              <a:t> </a:t>
            </a:r>
            <a:r>
              <a:rPr lang="sv-SE" sz="2400" dirty="0">
                <a:latin typeface="Nourd" panose="020B0604020202020204" charset="0"/>
              </a:rPr>
              <a:t>Fitur teks dan fitur visual digabungkan (CNN + LSTM) untuk mengklasifikasikan kelas konotasi/makna budaya dari kemasan</a:t>
            </a:r>
            <a:r>
              <a:rPr lang="en-US" sz="2400" dirty="0">
                <a:latin typeface="Nourd" panose="020B0604020202020204" charset="0"/>
              </a:rPr>
              <a:t>.</a:t>
            </a:r>
            <a:endParaRPr lang="en-US" sz="2400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44" name="Freeform 29">
            <a:extLst>
              <a:ext uri="{FF2B5EF4-FFF2-40B4-BE49-F238E27FC236}">
                <a16:creationId xmlns:a16="http://schemas.microsoft.com/office/drawing/2014/main" id="{82DA66B8-EA3F-6575-D4DD-B18B47A70064}"/>
              </a:ext>
            </a:extLst>
          </p:cNvPr>
          <p:cNvSpPr/>
          <p:nvPr/>
        </p:nvSpPr>
        <p:spPr>
          <a:xfrm>
            <a:off x="14196075" y="361448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39" y="0"/>
                </a:lnTo>
                <a:lnTo>
                  <a:pt x="2848039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10CED9D-7F9E-3650-A2B6-068809E24BB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4114" y="419109"/>
            <a:ext cx="1030039" cy="10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6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A189A-5837-6534-D2EB-C0763122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DA4D3D-503E-0A53-E481-ECFE43F652DF}"/>
              </a:ext>
            </a:extLst>
          </p:cNvPr>
          <p:cNvSpPr/>
          <p:nvPr/>
        </p:nvSpPr>
        <p:spPr>
          <a:xfrm rot="-5400000">
            <a:off x="-3451814" y="264656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FC45264-FCE0-3993-1B4D-12EE5BFFF696}"/>
              </a:ext>
            </a:extLst>
          </p:cNvPr>
          <p:cNvSpPr/>
          <p:nvPr/>
        </p:nvSpPr>
        <p:spPr>
          <a:xfrm rot="-5400000">
            <a:off x="-3451814" y="5480210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0DDC90A-64D0-9830-A390-0C55160788E6}"/>
              </a:ext>
            </a:extLst>
          </p:cNvPr>
          <p:cNvSpPr/>
          <p:nvPr/>
        </p:nvSpPr>
        <p:spPr>
          <a:xfrm rot="-5400000">
            <a:off x="-3759899" y="291457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78FBFFE-8BA5-CD58-7F9C-7238435AF4D7}"/>
              </a:ext>
            </a:extLst>
          </p:cNvPr>
          <p:cNvSpPr/>
          <p:nvPr/>
        </p:nvSpPr>
        <p:spPr>
          <a:xfrm rot="-5400000">
            <a:off x="-3759899" y="574821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5F7D892-0F0A-D0F0-B64D-BA0E398B9328}"/>
              </a:ext>
            </a:extLst>
          </p:cNvPr>
          <p:cNvSpPr/>
          <p:nvPr/>
        </p:nvSpPr>
        <p:spPr>
          <a:xfrm rot="-10800000">
            <a:off x="-312917" y="1711428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047FFF8-2F7D-C5A8-E61B-FAEBE1B170AD}"/>
              </a:ext>
            </a:extLst>
          </p:cNvPr>
          <p:cNvSpPr/>
          <p:nvPr/>
        </p:nvSpPr>
        <p:spPr>
          <a:xfrm rot="5400000">
            <a:off x="1738434" y="1711428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6" y="0"/>
                </a:lnTo>
                <a:lnTo>
                  <a:pt x="1202676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9EE8FB1-6932-3D72-D769-47DF794480EC}"/>
              </a:ext>
            </a:extLst>
          </p:cNvPr>
          <p:cNvSpPr/>
          <p:nvPr/>
        </p:nvSpPr>
        <p:spPr>
          <a:xfrm rot="-10800000">
            <a:off x="1706937" y="425887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1"/>
                </a:lnTo>
                <a:lnTo>
                  <a:pt x="0" y="1168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AD69DAD-DDD3-2ECA-E6AD-565A35AFCE43}"/>
              </a:ext>
            </a:extLst>
          </p:cNvPr>
          <p:cNvSpPr/>
          <p:nvPr/>
        </p:nvSpPr>
        <p:spPr>
          <a:xfrm rot="5494193">
            <a:off x="-288851" y="-31700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1" y="0"/>
                </a:lnTo>
                <a:lnTo>
                  <a:pt x="1886071" y="1886072"/>
                </a:lnTo>
                <a:lnTo>
                  <a:pt x="0" y="188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3CDB023-354E-8937-A29E-691C09CE5C7A}"/>
              </a:ext>
            </a:extLst>
          </p:cNvPr>
          <p:cNvSpPr/>
          <p:nvPr/>
        </p:nvSpPr>
        <p:spPr>
          <a:xfrm rot="-10800000">
            <a:off x="2875597" y="933613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1" y="0"/>
                </a:lnTo>
                <a:lnTo>
                  <a:pt x="4888041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4F81426-B9EA-C1E0-913F-331286AFE479}"/>
              </a:ext>
            </a:extLst>
          </p:cNvPr>
          <p:cNvSpPr/>
          <p:nvPr/>
        </p:nvSpPr>
        <p:spPr>
          <a:xfrm rot="-10800000">
            <a:off x="7782688" y="933749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C3FB14D-5C12-D1A3-D59F-1F6FE81AE6C2}"/>
              </a:ext>
            </a:extLst>
          </p:cNvPr>
          <p:cNvSpPr/>
          <p:nvPr/>
        </p:nvSpPr>
        <p:spPr>
          <a:xfrm rot="-10800000">
            <a:off x="12689778" y="9338853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DAE6F29-2418-4373-BE73-E21FF61066A2}"/>
              </a:ext>
            </a:extLst>
          </p:cNvPr>
          <p:cNvGrpSpPr/>
          <p:nvPr/>
        </p:nvGrpSpPr>
        <p:grpSpPr>
          <a:xfrm>
            <a:off x="2875597" y="9127948"/>
            <a:ext cx="15731854" cy="1880081"/>
            <a:chOff x="0" y="0"/>
            <a:chExt cx="4143369" cy="49516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6C5109A-03FC-99DB-C026-8328E6EA384C}"/>
                </a:ext>
              </a:extLst>
            </p:cNvPr>
            <p:cNvSpPr/>
            <p:nvPr/>
          </p:nvSpPr>
          <p:spPr>
            <a:xfrm>
              <a:off x="0" y="0"/>
              <a:ext cx="4143369" cy="495165"/>
            </a:xfrm>
            <a:custGeom>
              <a:avLst/>
              <a:gdLst/>
              <a:ahLst/>
              <a:cxnLst/>
              <a:rect l="l" t="t" r="r" b="b"/>
              <a:pathLst>
                <a:path w="4143369" h="495165">
                  <a:moveTo>
                    <a:pt x="0" y="0"/>
                  </a:moveTo>
                  <a:lnTo>
                    <a:pt x="4143369" y="0"/>
                  </a:lnTo>
                  <a:lnTo>
                    <a:pt x="4143369" y="495165"/>
                  </a:lnTo>
                  <a:lnTo>
                    <a:pt x="0" y="4951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71000"/>
                  </a:srgbClr>
                </a:gs>
                <a:gs pos="66667">
                  <a:srgbClr val="FFFFFF">
                    <a:alpha val="54000"/>
                  </a:srgbClr>
                </a:gs>
                <a:gs pos="100000">
                  <a:srgbClr val="FFFFFF">
                    <a:alpha val="21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03A045A-0EBB-57D5-F3CE-04538996DBF1}"/>
                </a:ext>
              </a:extLst>
            </p:cNvPr>
            <p:cNvSpPr txBox="1"/>
            <p:nvPr/>
          </p:nvSpPr>
          <p:spPr>
            <a:xfrm>
              <a:off x="0" y="-38100"/>
              <a:ext cx="4143369" cy="533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9F9C42E8-F6A1-419F-F990-D7A5DB944BAB}"/>
              </a:ext>
            </a:extLst>
          </p:cNvPr>
          <p:cNvSpPr/>
          <p:nvPr/>
        </p:nvSpPr>
        <p:spPr>
          <a:xfrm rot="-10800000">
            <a:off x="8689419" y="9216326"/>
            <a:ext cx="9281250" cy="4640625"/>
          </a:xfrm>
          <a:custGeom>
            <a:avLst/>
            <a:gdLst/>
            <a:ahLst/>
            <a:cxnLst/>
            <a:rect l="l" t="t" r="r" b="b"/>
            <a:pathLst>
              <a:path w="9281250" h="4640625">
                <a:moveTo>
                  <a:pt x="0" y="0"/>
                </a:moveTo>
                <a:lnTo>
                  <a:pt x="9281250" y="0"/>
                </a:lnTo>
                <a:lnTo>
                  <a:pt x="9281250" y="4640625"/>
                </a:lnTo>
                <a:lnTo>
                  <a:pt x="0" y="464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12B6F60-0791-2539-8250-92170ABB73B5}"/>
              </a:ext>
            </a:extLst>
          </p:cNvPr>
          <p:cNvSpPr/>
          <p:nvPr/>
        </p:nvSpPr>
        <p:spPr>
          <a:xfrm rot="-10800000" flipH="1">
            <a:off x="971550" y="-3324521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9"/>
                </a:lnTo>
                <a:lnTo>
                  <a:pt x="7334017" y="3667009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06906A1-035F-4441-29AF-0EC1854FE213}"/>
              </a:ext>
            </a:extLst>
          </p:cNvPr>
          <p:cNvGrpSpPr/>
          <p:nvPr/>
        </p:nvGrpSpPr>
        <p:grpSpPr>
          <a:xfrm rot="-10800000">
            <a:off x="8268687" y="-342488"/>
            <a:ext cx="10923063" cy="684975"/>
            <a:chOff x="0" y="0"/>
            <a:chExt cx="2891335" cy="18131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F52C748-C945-083E-4075-8F915EDDDDAE}"/>
                </a:ext>
              </a:extLst>
            </p:cNvPr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91D25F3-B79E-2C07-E999-1F101037270E}"/>
                </a:ext>
              </a:extLst>
            </p:cNvPr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443F20F0-444E-8BF5-C222-8F2832573830}"/>
              </a:ext>
            </a:extLst>
          </p:cNvPr>
          <p:cNvSpPr txBox="1"/>
          <p:nvPr/>
        </p:nvSpPr>
        <p:spPr>
          <a:xfrm>
            <a:off x="4091925" y="1321801"/>
            <a:ext cx="11425142" cy="69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it-IT" sz="32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Strategi Akuisisi Data &amp; Dataset Aktual</a:t>
            </a:r>
            <a:endParaRPr lang="en-US" sz="3200" b="1" dirty="0">
              <a:solidFill>
                <a:srgbClr val="40A8CD"/>
              </a:solidFill>
              <a:latin typeface="Nourd Bold"/>
              <a:ea typeface="Nourd Bold"/>
              <a:cs typeface="Nourd Bold"/>
              <a:sym typeface="Nourd 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AEC8E5C-F5F0-A96F-4D4A-9E39D34D0350}"/>
              </a:ext>
            </a:extLst>
          </p:cNvPr>
          <p:cNvSpPr txBox="1"/>
          <p:nvPr/>
        </p:nvSpPr>
        <p:spPr>
          <a:xfrm>
            <a:off x="3749708" y="2588955"/>
            <a:ext cx="12954000" cy="2554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600" b="1" dirty="0">
                <a:latin typeface="Nourd" panose="020B0604020202020204" charset="0"/>
              </a:rPr>
              <a:t>Multi-Source Scraping (7 </a:t>
            </a:r>
            <a:r>
              <a:rPr lang="en-US" sz="2600" b="1" dirty="0" err="1">
                <a:latin typeface="Nourd" panose="020B0604020202020204" charset="0"/>
              </a:rPr>
              <a:t>Sumber</a:t>
            </a:r>
            <a:r>
              <a:rPr lang="en-US" sz="2600" b="1" dirty="0">
                <a:latin typeface="Nourd" panose="020B0604020202020204" charset="0"/>
              </a:rPr>
              <a:t>): </a:t>
            </a:r>
            <a:r>
              <a:rPr lang="en-US" sz="2600" dirty="0" err="1">
                <a:latin typeface="Nourd" panose="020B0604020202020204" charset="0"/>
              </a:rPr>
              <a:t>Mengatasi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proteksi</a:t>
            </a:r>
            <a:r>
              <a:rPr lang="en-US" sz="2600" dirty="0">
                <a:latin typeface="Nourd" panose="020B0604020202020204" charset="0"/>
              </a:rPr>
              <a:t> WAF dan anti-bot </a:t>
            </a:r>
            <a:r>
              <a:rPr lang="en-US" sz="2600" dirty="0" err="1">
                <a:latin typeface="Nourd" panose="020B0604020202020204" charset="0"/>
              </a:rPr>
              <a:t>dengan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menyebar</a:t>
            </a:r>
            <a:r>
              <a:rPr lang="en-US" sz="2600" dirty="0">
                <a:latin typeface="Nourd" panose="020B0604020202020204" charset="0"/>
              </a:rPr>
              <a:t> target </a:t>
            </a:r>
            <a:r>
              <a:rPr lang="en-US" sz="2600" dirty="0" err="1">
                <a:latin typeface="Nourd" panose="020B0604020202020204" charset="0"/>
              </a:rPr>
              <a:t>penarikan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ke</a:t>
            </a:r>
            <a:r>
              <a:rPr lang="en-US" sz="2600" dirty="0">
                <a:latin typeface="Nourd" panose="020B0604020202020204" charset="0"/>
              </a:rPr>
              <a:t> Google Images, Tokopedia, </a:t>
            </a:r>
            <a:r>
              <a:rPr lang="en-US" sz="2600" dirty="0" err="1">
                <a:latin typeface="Nourd" panose="020B0604020202020204" charset="0"/>
              </a:rPr>
              <a:t>KlikIndomaret</a:t>
            </a:r>
            <a:r>
              <a:rPr lang="en-US" sz="2600" dirty="0">
                <a:latin typeface="Nourd" panose="020B0604020202020204" charset="0"/>
              </a:rPr>
              <a:t>, curated/fashion brands</a:t>
            </a:r>
            <a:r>
              <a:rPr lang="id-ID" sz="2600" dirty="0">
                <a:latin typeface="Nourd" panose="020B0604020202020204" charset="0"/>
              </a:rPr>
              <a:t>.</a:t>
            </a:r>
          </a:p>
          <a:p>
            <a:pPr marL="514350" indent="-514350" algn="just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id-ID" sz="2600" b="1" dirty="0" err="1">
                <a:latin typeface="Nourd" panose="020B0604020202020204" charset="0"/>
              </a:rPr>
              <a:t>Hybrid</a:t>
            </a:r>
            <a:r>
              <a:rPr lang="id-ID" sz="2600" b="1" dirty="0">
                <a:latin typeface="Nourd" panose="020B0604020202020204" charset="0"/>
              </a:rPr>
              <a:t> </a:t>
            </a:r>
            <a:r>
              <a:rPr lang="id-ID" sz="2600" b="1" dirty="0" err="1">
                <a:latin typeface="Nourd" panose="020B0604020202020204" charset="0"/>
              </a:rPr>
              <a:t>Collection</a:t>
            </a:r>
            <a:r>
              <a:rPr lang="id-ID" sz="2600" b="1" dirty="0">
                <a:latin typeface="Nourd" panose="020B0604020202020204" charset="0"/>
              </a:rPr>
              <a:t> (</a:t>
            </a:r>
            <a:r>
              <a:rPr lang="id-ID" sz="2600" b="1" dirty="0" err="1">
                <a:latin typeface="Nourd" panose="020B0604020202020204" charset="0"/>
              </a:rPr>
              <a:t>High-Res</a:t>
            </a:r>
            <a:r>
              <a:rPr lang="id-ID" sz="2600" b="1" dirty="0">
                <a:latin typeface="Nourd" panose="020B0604020202020204" charset="0"/>
              </a:rPr>
              <a:t>): </a:t>
            </a:r>
            <a:r>
              <a:rPr lang="en-US" sz="2600" dirty="0" err="1">
                <a:latin typeface="Nourd" panose="020B0604020202020204" charset="0"/>
              </a:rPr>
              <a:t>Menggabungkan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penarikan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otomatis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dengan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i="1" dirty="0">
                <a:latin typeface="Nourd" panose="020B0604020202020204" charset="0"/>
              </a:rPr>
              <a:t>semi-automated scraper</a:t>
            </a:r>
            <a:r>
              <a:rPr lang="en-US" sz="2600" dirty="0">
                <a:latin typeface="Nourd" panose="020B0604020202020204" charset="0"/>
              </a:rPr>
              <a:t> di Blibli dan manual </a:t>
            </a:r>
            <a:r>
              <a:rPr lang="en-US" sz="2600" i="1" dirty="0">
                <a:latin typeface="Nourd" panose="020B0604020202020204" charset="0"/>
              </a:rPr>
              <a:t>download</a:t>
            </a:r>
            <a:r>
              <a:rPr lang="en-US" sz="2600" dirty="0">
                <a:latin typeface="Nourd" panose="020B0604020202020204" charset="0"/>
              </a:rPr>
              <a:t> di Shopee Mall </a:t>
            </a:r>
            <a:r>
              <a:rPr lang="en-US" sz="2600" dirty="0" err="1">
                <a:latin typeface="Nourd" panose="020B0604020202020204" charset="0"/>
              </a:rPr>
              <a:t>untuk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memastikan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gambar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beresolusi</a:t>
            </a:r>
            <a:r>
              <a:rPr lang="en-US" sz="2600" dirty="0">
                <a:latin typeface="Nourd" panose="020B0604020202020204" charset="0"/>
              </a:rPr>
              <a:t> </a:t>
            </a:r>
            <a:r>
              <a:rPr lang="en-US" sz="2600" dirty="0" err="1">
                <a:latin typeface="Nourd" panose="020B0604020202020204" charset="0"/>
              </a:rPr>
              <a:t>tinggi</a:t>
            </a:r>
            <a:r>
              <a:rPr lang="en-US" sz="2600" dirty="0">
                <a:latin typeface="Nourd" panose="020B0604020202020204" charset="0"/>
              </a:rPr>
              <a:t> (300-1000px) yang </a:t>
            </a:r>
            <a:r>
              <a:rPr lang="en-US" sz="2600" dirty="0" err="1">
                <a:latin typeface="Nourd" panose="020B0604020202020204" charset="0"/>
              </a:rPr>
              <a:t>layak</a:t>
            </a:r>
            <a:r>
              <a:rPr lang="en-US" sz="2600" dirty="0">
                <a:latin typeface="Nourd" panose="020B0604020202020204" charset="0"/>
              </a:rPr>
              <a:t> OCR</a:t>
            </a:r>
            <a:r>
              <a:rPr lang="id-ID" sz="2600" dirty="0">
                <a:latin typeface="Nourd" panose="020B0604020202020204" charset="0"/>
              </a:rPr>
              <a:t>.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E508EFB-1D0D-18BF-B142-608A864FE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314037"/>
              </p:ext>
            </p:extLst>
          </p:nvPr>
        </p:nvGraphicFramePr>
        <p:xfrm>
          <a:off x="4352532" y="5351683"/>
          <a:ext cx="12138675" cy="3516898"/>
        </p:xfrm>
        <a:graphic>
          <a:graphicData uri="http://schemas.openxmlformats.org/drawingml/2006/table">
            <a:tbl>
              <a:tblPr/>
              <a:tblGrid>
                <a:gridCol w="8313219">
                  <a:extLst>
                    <a:ext uri="{9D8B030D-6E8A-4147-A177-3AD203B41FA5}">
                      <a16:colId xmlns:a16="http://schemas.microsoft.com/office/drawing/2014/main" val="1461138683"/>
                    </a:ext>
                  </a:extLst>
                </a:gridCol>
                <a:gridCol w="3825456">
                  <a:extLst>
                    <a:ext uri="{9D8B030D-6E8A-4147-A177-3AD203B41FA5}">
                      <a16:colId xmlns:a16="http://schemas.microsoft.com/office/drawing/2014/main" val="2872021306"/>
                    </a:ext>
                  </a:extLst>
                </a:gridCol>
              </a:tblGrid>
              <a:tr h="724530">
                <a:tc>
                  <a:txBody>
                    <a:bodyPr/>
                    <a:lstStyle/>
                    <a:p>
                      <a:pPr lvl="0"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Metrik Pemrosesan Data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-ID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Accuracy</a:t>
                      </a: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 (</a:t>
                      </a:r>
                      <a:r>
                        <a:rPr lang="id-ID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Average</a:t>
                      </a: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)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620676"/>
                  </a:ext>
                </a:extLst>
              </a:tr>
              <a:tr h="698092">
                <a:tc>
                  <a:txBody>
                    <a:bodyPr/>
                    <a:lstStyle/>
                    <a:p>
                      <a:pPr lvl="0" algn="l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d-ID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Total Gambar Mentah Terkumpul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d-ID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1919 Gambar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590444"/>
                  </a:ext>
                </a:extLst>
              </a:tr>
              <a:tr h="698092">
                <a:tc>
                  <a:txBody>
                    <a:bodyPr/>
                    <a:lstStyle/>
                    <a:p>
                      <a:pPr lvl="0" algn="l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Lolos </a:t>
                      </a:r>
                      <a:r>
                        <a:rPr lang="id-ID" sz="2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DeepSeek</a:t>
                      </a: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 LLM Filter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1438 Gambar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879535"/>
                  </a:ext>
                </a:extLst>
              </a:tr>
              <a:tr h="698092">
                <a:tc>
                  <a:txBody>
                    <a:bodyPr/>
                    <a:lstStyle/>
                    <a:p>
                      <a:pPr lvl="0" algn="l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d-ID" sz="2400" dirty="0">
                          <a:effectLst/>
                          <a:latin typeface="Nourd" panose="020B0604020202020204" charset="0"/>
                        </a:rPr>
                        <a:t>Lolos </a:t>
                      </a:r>
                      <a:r>
                        <a:rPr lang="id-ID" sz="2400" dirty="0" err="1">
                          <a:effectLst/>
                          <a:latin typeface="Nourd" panose="020B0604020202020204" charset="0"/>
                        </a:rPr>
                        <a:t>Rule-Based</a:t>
                      </a:r>
                      <a:r>
                        <a:rPr lang="id-ID" sz="2400" dirty="0">
                          <a:effectLst/>
                          <a:latin typeface="Nourd" panose="020B0604020202020204" charset="0"/>
                        </a:rPr>
                        <a:t> Filter (</a:t>
                      </a:r>
                      <a:r>
                        <a:rPr lang="id-ID" sz="2400" dirty="0" err="1">
                          <a:effectLst/>
                          <a:latin typeface="Nourd" panose="020B0604020202020204" charset="0"/>
                        </a:rPr>
                        <a:t>Clean</a:t>
                      </a:r>
                      <a:r>
                        <a:rPr lang="id-ID" sz="2400" dirty="0">
                          <a:effectLst/>
                          <a:latin typeface="Nourd" panose="020B0604020202020204" charset="0"/>
                        </a:rPr>
                        <a:t>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322 Gambar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63773"/>
                  </a:ext>
                </a:extLst>
              </a:tr>
              <a:tr h="698092">
                <a:tc>
                  <a:txBody>
                    <a:bodyPr/>
                    <a:lstStyle/>
                    <a:p>
                      <a:pPr lvl="0" algn="l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Nourd" panose="020B0604020202020204" charset="0"/>
                        </a:rPr>
                        <a:t>Dataset Semi-Auto High-Res (Shopee + Blibli)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 fontAlgn="t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id-ID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Nourd" panose="020B0604020202020204" charset="0"/>
                        </a:rPr>
                        <a:t>401 Gambar</a:t>
                      </a:r>
                      <a:endParaRPr lang="id-ID" sz="2400" dirty="0">
                        <a:effectLst/>
                        <a:latin typeface="Nourd" panose="020B0604020202020204" charset="0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583165"/>
                  </a:ext>
                </a:extLst>
              </a:tr>
            </a:tbl>
          </a:graphicData>
        </a:graphic>
      </p:graphicFrame>
      <p:sp>
        <p:nvSpPr>
          <p:cNvPr id="28" name="TextBox 18">
            <a:extLst>
              <a:ext uri="{FF2B5EF4-FFF2-40B4-BE49-F238E27FC236}">
                <a16:creationId xmlns:a16="http://schemas.microsoft.com/office/drawing/2014/main" id="{72511815-9279-67A8-DFE2-DD5CD084D03A}"/>
              </a:ext>
            </a:extLst>
          </p:cNvPr>
          <p:cNvSpPr txBox="1"/>
          <p:nvPr/>
        </p:nvSpPr>
        <p:spPr>
          <a:xfrm>
            <a:off x="12767431" y="8983286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4D3A8B22-BDC9-E695-E6B7-1C938C304A43}"/>
              </a:ext>
            </a:extLst>
          </p:cNvPr>
          <p:cNvSpPr/>
          <p:nvPr/>
        </p:nvSpPr>
        <p:spPr>
          <a:xfrm>
            <a:off x="14196075" y="361448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39" y="0"/>
                </a:lnTo>
                <a:lnTo>
                  <a:pt x="2848039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F95FBE6-EACB-DF86-56F6-F00C9C766C4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4114" y="419109"/>
            <a:ext cx="1030039" cy="10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1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8E10-BFEE-DEDE-A1E1-41FD5489F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2E9ECE-20F1-AD51-3A97-FF5A91BDAEAE}"/>
              </a:ext>
            </a:extLst>
          </p:cNvPr>
          <p:cNvSpPr/>
          <p:nvPr/>
        </p:nvSpPr>
        <p:spPr>
          <a:xfrm rot="-5400000">
            <a:off x="-3451814" y="264656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3DC2339-FD09-C534-73B3-5392FA68CFA2}"/>
              </a:ext>
            </a:extLst>
          </p:cNvPr>
          <p:cNvSpPr/>
          <p:nvPr/>
        </p:nvSpPr>
        <p:spPr>
          <a:xfrm rot="-5400000">
            <a:off x="-3451814" y="5480210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9A1234-EC30-8B82-0A53-364050FAE352}"/>
              </a:ext>
            </a:extLst>
          </p:cNvPr>
          <p:cNvSpPr/>
          <p:nvPr/>
        </p:nvSpPr>
        <p:spPr>
          <a:xfrm rot="-5400000">
            <a:off x="-3759899" y="291457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EBE9170-7848-37C5-486A-BDFADDA15059}"/>
              </a:ext>
            </a:extLst>
          </p:cNvPr>
          <p:cNvSpPr/>
          <p:nvPr/>
        </p:nvSpPr>
        <p:spPr>
          <a:xfrm rot="-5400000">
            <a:off x="-3759899" y="574821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AEB0AEF-5591-346A-A2FF-5C89BB75AE96}"/>
              </a:ext>
            </a:extLst>
          </p:cNvPr>
          <p:cNvSpPr/>
          <p:nvPr/>
        </p:nvSpPr>
        <p:spPr>
          <a:xfrm rot="-10800000">
            <a:off x="-312917" y="1711428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7236B44-26D2-B9EF-72CC-E0B5DF5B4F46}"/>
              </a:ext>
            </a:extLst>
          </p:cNvPr>
          <p:cNvSpPr/>
          <p:nvPr/>
        </p:nvSpPr>
        <p:spPr>
          <a:xfrm rot="5400000">
            <a:off x="1738434" y="1711428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6" y="0"/>
                </a:lnTo>
                <a:lnTo>
                  <a:pt x="1202676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6B6C55-B462-0FC0-E027-7C5B81B3003B}"/>
              </a:ext>
            </a:extLst>
          </p:cNvPr>
          <p:cNvSpPr/>
          <p:nvPr/>
        </p:nvSpPr>
        <p:spPr>
          <a:xfrm rot="-10800000">
            <a:off x="1706937" y="425887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1"/>
                </a:lnTo>
                <a:lnTo>
                  <a:pt x="0" y="1168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262061D-750F-87F7-E87E-241BED9849E5}"/>
              </a:ext>
            </a:extLst>
          </p:cNvPr>
          <p:cNvSpPr/>
          <p:nvPr/>
        </p:nvSpPr>
        <p:spPr>
          <a:xfrm rot="5494193">
            <a:off x="-288851" y="-31700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1" y="0"/>
                </a:lnTo>
                <a:lnTo>
                  <a:pt x="1886071" y="1886072"/>
                </a:lnTo>
                <a:lnTo>
                  <a:pt x="0" y="188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B577EB6-D0C0-7943-B604-285D32F0A931}"/>
              </a:ext>
            </a:extLst>
          </p:cNvPr>
          <p:cNvSpPr/>
          <p:nvPr/>
        </p:nvSpPr>
        <p:spPr>
          <a:xfrm rot="-10800000">
            <a:off x="2875597" y="933613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1" y="0"/>
                </a:lnTo>
                <a:lnTo>
                  <a:pt x="4888041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49147FA-11D4-2134-9D2B-37E9FC786160}"/>
              </a:ext>
            </a:extLst>
          </p:cNvPr>
          <p:cNvSpPr/>
          <p:nvPr/>
        </p:nvSpPr>
        <p:spPr>
          <a:xfrm rot="-10800000">
            <a:off x="7782688" y="933749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F41DBDF8-2ED7-7AB8-A3BF-4E7489328210}"/>
              </a:ext>
            </a:extLst>
          </p:cNvPr>
          <p:cNvSpPr/>
          <p:nvPr/>
        </p:nvSpPr>
        <p:spPr>
          <a:xfrm rot="-10800000">
            <a:off x="12689778" y="9338853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C600B0B-1FBB-844C-4311-8CD4F5DE206B}"/>
              </a:ext>
            </a:extLst>
          </p:cNvPr>
          <p:cNvGrpSpPr/>
          <p:nvPr/>
        </p:nvGrpSpPr>
        <p:grpSpPr>
          <a:xfrm>
            <a:off x="2875597" y="9127948"/>
            <a:ext cx="15731854" cy="1880081"/>
            <a:chOff x="0" y="0"/>
            <a:chExt cx="4143369" cy="49516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4182846-AEE3-7D83-692C-FF13C9FAA2E7}"/>
                </a:ext>
              </a:extLst>
            </p:cNvPr>
            <p:cNvSpPr/>
            <p:nvPr/>
          </p:nvSpPr>
          <p:spPr>
            <a:xfrm>
              <a:off x="0" y="0"/>
              <a:ext cx="4143369" cy="495165"/>
            </a:xfrm>
            <a:custGeom>
              <a:avLst/>
              <a:gdLst/>
              <a:ahLst/>
              <a:cxnLst/>
              <a:rect l="l" t="t" r="r" b="b"/>
              <a:pathLst>
                <a:path w="4143369" h="495165">
                  <a:moveTo>
                    <a:pt x="0" y="0"/>
                  </a:moveTo>
                  <a:lnTo>
                    <a:pt x="4143369" y="0"/>
                  </a:lnTo>
                  <a:lnTo>
                    <a:pt x="4143369" y="495165"/>
                  </a:lnTo>
                  <a:lnTo>
                    <a:pt x="0" y="4951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71000"/>
                  </a:srgbClr>
                </a:gs>
                <a:gs pos="66667">
                  <a:srgbClr val="FFFFFF">
                    <a:alpha val="54000"/>
                  </a:srgbClr>
                </a:gs>
                <a:gs pos="100000">
                  <a:srgbClr val="FFFFFF">
                    <a:alpha val="21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5E8B06A-9D5E-74AD-4B5C-466B2C55DC79}"/>
                </a:ext>
              </a:extLst>
            </p:cNvPr>
            <p:cNvSpPr txBox="1"/>
            <p:nvPr/>
          </p:nvSpPr>
          <p:spPr>
            <a:xfrm>
              <a:off x="0" y="-38100"/>
              <a:ext cx="4143369" cy="533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5E03E699-424C-60B6-9596-0ED8AA299B5C}"/>
              </a:ext>
            </a:extLst>
          </p:cNvPr>
          <p:cNvSpPr/>
          <p:nvPr/>
        </p:nvSpPr>
        <p:spPr>
          <a:xfrm rot="-10800000">
            <a:off x="8689419" y="9127948"/>
            <a:ext cx="9281250" cy="4640625"/>
          </a:xfrm>
          <a:custGeom>
            <a:avLst/>
            <a:gdLst/>
            <a:ahLst/>
            <a:cxnLst/>
            <a:rect l="l" t="t" r="r" b="b"/>
            <a:pathLst>
              <a:path w="9281250" h="4640625">
                <a:moveTo>
                  <a:pt x="0" y="0"/>
                </a:moveTo>
                <a:lnTo>
                  <a:pt x="9281250" y="0"/>
                </a:lnTo>
                <a:lnTo>
                  <a:pt x="9281250" y="4640625"/>
                </a:lnTo>
                <a:lnTo>
                  <a:pt x="0" y="464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86B1542-87E7-FA76-AA5B-695FF604DBE2}"/>
              </a:ext>
            </a:extLst>
          </p:cNvPr>
          <p:cNvSpPr/>
          <p:nvPr/>
        </p:nvSpPr>
        <p:spPr>
          <a:xfrm rot="-10800000" flipH="1">
            <a:off x="971550" y="-3324521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9"/>
                </a:lnTo>
                <a:lnTo>
                  <a:pt x="7334017" y="3667009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71563BE2-547F-EDE4-410D-4DD8CD765E56}"/>
              </a:ext>
            </a:extLst>
          </p:cNvPr>
          <p:cNvGrpSpPr/>
          <p:nvPr/>
        </p:nvGrpSpPr>
        <p:grpSpPr>
          <a:xfrm rot="-10800000">
            <a:off x="8268687" y="-342488"/>
            <a:ext cx="10923063" cy="684975"/>
            <a:chOff x="0" y="0"/>
            <a:chExt cx="2891335" cy="18131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359E74D-A11B-CC5E-0298-0487AA0A67A8}"/>
                </a:ext>
              </a:extLst>
            </p:cNvPr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A8316A9B-CC82-C563-2FBE-9F18BEB70D55}"/>
                </a:ext>
              </a:extLst>
            </p:cNvPr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516C552-4C0D-7BC4-BEDA-5A6638873A12}"/>
              </a:ext>
            </a:extLst>
          </p:cNvPr>
          <p:cNvSpPr/>
          <p:nvPr/>
        </p:nvSpPr>
        <p:spPr>
          <a:xfrm>
            <a:off x="4091925" y="3072906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1.</a:t>
            </a:r>
            <a:endParaRPr lang="en-US" sz="2000" b="1" dirty="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1F9AD7C-4828-33CB-C0A8-F994AA75851B}"/>
              </a:ext>
            </a:extLst>
          </p:cNvPr>
          <p:cNvSpPr txBox="1"/>
          <p:nvPr/>
        </p:nvSpPr>
        <p:spPr>
          <a:xfrm>
            <a:off x="4091925" y="1507313"/>
            <a:ext cx="11425142" cy="74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00"/>
              </a:lnSpc>
            </a:pPr>
            <a:r>
              <a:rPr lang="en-US" sz="5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Kolaborasi</a:t>
            </a:r>
            <a:r>
              <a:rPr lang="en-US" sz="50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 Lintas </a:t>
            </a:r>
            <a:r>
              <a:rPr lang="en-US" sz="5000" b="1" dirty="0" err="1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Disiplin</a:t>
            </a:r>
            <a:endParaRPr lang="en-US" sz="5000" b="1" dirty="0">
              <a:solidFill>
                <a:srgbClr val="40A8CD"/>
              </a:solidFill>
              <a:latin typeface="Nourd Bold"/>
              <a:ea typeface="Nourd Bold"/>
              <a:cs typeface="Nourd Bold"/>
              <a:sym typeface="Nourd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329AA8A-7EF2-0073-507D-E2943249A669}"/>
              </a:ext>
            </a:extLst>
          </p:cNvPr>
          <p:cNvSpPr txBox="1"/>
          <p:nvPr/>
        </p:nvSpPr>
        <p:spPr>
          <a:xfrm>
            <a:off x="5298836" y="2993169"/>
            <a:ext cx="10626966" cy="176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>
                <a:latin typeface="Nourd" panose="020B0604020202020204" charset="0"/>
              </a:rPr>
              <a:t>Pilar </a:t>
            </a:r>
            <a:r>
              <a:rPr lang="en-US" sz="2800" b="1" dirty="0" err="1">
                <a:latin typeface="Nourd" panose="020B0604020202020204" charset="0"/>
              </a:rPr>
              <a:t>Komputasional</a:t>
            </a:r>
            <a:r>
              <a:rPr lang="en-US" sz="2800" b="1" dirty="0">
                <a:latin typeface="Nourd" panose="020B0604020202020204" charset="0"/>
              </a:rPr>
              <a:t> (AI Engineer):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Merancang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arsitektur</a:t>
            </a:r>
            <a:r>
              <a:rPr lang="en-US" sz="2800" dirty="0">
                <a:latin typeface="Nourd" panose="020B0604020202020204" charset="0"/>
              </a:rPr>
              <a:t> model </a:t>
            </a:r>
            <a:r>
              <a:rPr lang="en-US" sz="2800" i="1" dirty="0">
                <a:latin typeface="Nourd" panose="020B0604020202020204" charset="0"/>
              </a:rPr>
              <a:t>AI multimodal</a:t>
            </a:r>
            <a:r>
              <a:rPr lang="en-US" sz="2800" dirty="0">
                <a:latin typeface="Nourd" panose="020B0604020202020204" charset="0"/>
              </a:rPr>
              <a:t>, </a:t>
            </a:r>
            <a:r>
              <a:rPr lang="en-US" sz="2800" dirty="0" err="1">
                <a:latin typeface="Nourd" panose="020B0604020202020204" charset="0"/>
              </a:rPr>
              <a:t>mengeksekusi</a:t>
            </a:r>
            <a:r>
              <a:rPr lang="en-US" sz="2800" dirty="0">
                <a:latin typeface="Nourd" panose="020B0604020202020204" charset="0"/>
              </a:rPr>
              <a:t> scraping </a:t>
            </a:r>
            <a:r>
              <a:rPr lang="en-US" sz="2800" dirty="0" err="1">
                <a:latin typeface="Nourd" panose="020B0604020202020204" charset="0"/>
              </a:rPr>
              <a:t>gambar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lintas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sumber</a:t>
            </a:r>
            <a:r>
              <a:rPr lang="en-US" sz="2800" dirty="0">
                <a:latin typeface="Nourd" panose="020B0604020202020204" charset="0"/>
              </a:rPr>
              <a:t>, </a:t>
            </a:r>
            <a:r>
              <a:rPr lang="en-US" sz="2800" dirty="0" err="1">
                <a:latin typeface="Nourd" panose="020B0604020202020204" charset="0"/>
              </a:rPr>
              <a:t>membangun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i="1" dirty="0">
                <a:latin typeface="Nourd" panose="020B0604020202020204" charset="0"/>
              </a:rPr>
              <a:t>filtering pipeline</a:t>
            </a:r>
            <a:r>
              <a:rPr lang="en-US" sz="2800" dirty="0">
                <a:latin typeface="Nourd" panose="020B0604020202020204" charset="0"/>
              </a:rPr>
              <a:t> (DeepSeek LLM), dan </a:t>
            </a:r>
            <a:r>
              <a:rPr lang="en-US" sz="2800" dirty="0" err="1">
                <a:latin typeface="Nourd" panose="020B0604020202020204" charset="0"/>
              </a:rPr>
              <a:t>melatih</a:t>
            </a:r>
            <a:r>
              <a:rPr lang="en-US" sz="2800" dirty="0">
                <a:latin typeface="Nourd" panose="020B0604020202020204" charset="0"/>
              </a:rPr>
              <a:t> model </a:t>
            </a:r>
            <a:r>
              <a:rPr lang="en-US" sz="2800" dirty="0" err="1">
                <a:latin typeface="Nourd" panose="020B0604020202020204" charset="0"/>
              </a:rPr>
              <a:t>komputasi</a:t>
            </a:r>
            <a:r>
              <a:rPr lang="en-US" sz="2800" dirty="0">
                <a:latin typeface="Nourd" panose="020B0604020202020204" charset="0"/>
              </a:rPr>
              <a:t>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A9751DD1-7739-6228-4ECE-33F3AAE899A2}"/>
              </a:ext>
            </a:extLst>
          </p:cNvPr>
          <p:cNvSpPr/>
          <p:nvPr/>
        </p:nvSpPr>
        <p:spPr>
          <a:xfrm>
            <a:off x="4078070" y="5278258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3"/>
                </a:lnTo>
                <a:lnTo>
                  <a:pt x="0" y="87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2.</a:t>
            </a:r>
            <a:endParaRPr lang="en-US" sz="4000" b="1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0B0D34E-9FBF-54E8-4149-D6F5C0DAB4F6}"/>
              </a:ext>
            </a:extLst>
          </p:cNvPr>
          <p:cNvSpPr txBox="1"/>
          <p:nvPr/>
        </p:nvSpPr>
        <p:spPr>
          <a:xfrm>
            <a:off x="5222403" y="5279169"/>
            <a:ext cx="10703398" cy="176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>
                <a:latin typeface="Nourd" panose="020B0604020202020204" charset="0"/>
              </a:rPr>
              <a:t>Pilar </a:t>
            </a:r>
            <a:r>
              <a:rPr lang="en-US" sz="2800" b="1" dirty="0" err="1">
                <a:latin typeface="Nourd" panose="020B0604020202020204" charset="0"/>
              </a:rPr>
              <a:t>Linguistik</a:t>
            </a:r>
            <a:r>
              <a:rPr lang="en-US" sz="2800" b="1" dirty="0">
                <a:latin typeface="Nourd" panose="020B0604020202020204" charset="0"/>
              </a:rPr>
              <a:t> (Pakar Bahasa</a:t>
            </a:r>
            <a:r>
              <a:rPr lang="id-ID" sz="2800" b="1" dirty="0">
                <a:latin typeface="Nourd" panose="020B0604020202020204" charset="0"/>
              </a:rPr>
              <a:t> </a:t>
            </a:r>
            <a:r>
              <a:rPr lang="en-US" sz="2800" b="1" dirty="0">
                <a:latin typeface="Nourd" panose="020B0604020202020204" charset="0"/>
              </a:rPr>
              <a:t>/</a:t>
            </a:r>
            <a:r>
              <a:rPr lang="id-ID" sz="2800" b="1" dirty="0">
                <a:latin typeface="Nourd" panose="020B0604020202020204" charset="0"/>
              </a:rPr>
              <a:t> </a:t>
            </a:r>
            <a:r>
              <a:rPr lang="en-US" sz="2800" b="1" dirty="0">
                <a:latin typeface="Nourd" panose="020B0604020202020204" charset="0"/>
              </a:rPr>
              <a:t>Dosen):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Menetapkan</a:t>
            </a:r>
            <a:r>
              <a:rPr lang="en-US" sz="2800" dirty="0">
                <a:latin typeface="Nourd" panose="020B0604020202020204" charset="0"/>
              </a:rPr>
              <a:t> parameter </a:t>
            </a:r>
            <a:r>
              <a:rPr lang="en-US" sz="2800" dirty="0" err="1">
                <a:latin typeface="Nourd" panose="020B0604020202020204" charset="0"/>
              </a:rPr>
              <a:t>pencarian</a:t>
            </a:r>
            <a:r>
              <a:rPr lang="en-US" sz="2800" dirty="0">
                <a:latin typeface="Nourd" panose="020B0604020202020204" charset="0"/>
              </a:rPr>
              <a:t>, </a:t>
            </a:r>
            <a:r>
              <a:rPr lang="en-US" sz="2800" dirty="0" err="1">
                <a:latin typeface="Nourd" panose="020B0604020202020204" charset="0"/>
              </a:rPr>
              <a:t>merumuskan</a:t>
            </a:r>
            <a:r>
              <a:rPr lang="en-US" sz="2800" dirty="0">
                <a:latin typeface="Nourd" panose="020B0604020202020204" charset="0"/>
              </a:rPr>
              <a:t> "Kamus </a:t>
            </a:r>
            <a:r>
              <a:rPr lang="en-US" sz="2800" dirty="0" err="1">
                <a:latin typeface="Nourd" panose="020B0604020202020204" charset="0"/>
              </a:rPr>
              <a:t>Semiotik</a:t>
            </a:r>
            <a:r>
              <a:rPr lang="en-US" sz="2800" dirty="0">
                <a:latin typeface="Nourd" panose="020B0604020202020204" charset="0"/>
              </a:rPr>
              <a:t> Visual" </a:t>
            </a:r>
            <a:r>
              <a:rPr lang="en-US" sz="2800" dirty="0" err="1">
                <a:latin typeface="Nourd" panose="020B0604020202020204" charset="0"/>
              </a:rPr>
              <a:t>untuk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pedoman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i="1" dirty="0">
                <a:latin typeface="Nourd" panose="020B0604020202020204" charset="0"/>
              </a:rPr>
              <a:t>ground truth</a:t>
            </a:r>
            <a:r>
              <a:rPr lang="en-US" sz="2800" dirty="0">
                <a:latin typeface="Nourd" panose="020B0604020202020204" charset="0"/>
              </a:rPr>
              <a:t>, dan </a:t>
            </a:r>
            <a:r>
              <a:rPr lang="en-US" sz="2800" dirty="0" err="1">
                <a:latin typeface="Nourd" panose="020B0604020202020204" charset="0"/>
              </a:rPr>
              <a:t>menganalisis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hasil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prediksi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komputasi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dalam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narasi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kebahasaan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D4F20254-76DE-0B13-0C76-672B517D51B9}"/>
              </a:ext>
            </a:extLst>
          </p:cNvPr>
          <p:cNvSpPr txBox="1"/>
          <p:nvPr/>
        </p:nvSpPr>
        <p:spPr>
          <a:xfrm>
            <a:off x="12767431" y="8983286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31" name="Freeform 29">
            <a:extLst>
              <a:ext uri="{FF2B5EF4-FFF2-40B4-BE49-F238E27FC236}">
                <a16:creationId xmlns:a16="http://schemas.microsoft.com/office/drawing/2014/main" id="{3E3BADE0-4486-F80A-45FC-414FC2E0FA0C}"/>
              </a:ext>
            </a:extLst>
          </p:cNvPr>
          <p:cNvSpPr/>
          <p:nvPr/>
        </p:nvSpPr>
        <p:spPr>
          <a:xfrm>
            <a:off x="14196075" y="361448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39" y="0"/>
                </a:lnTo>
                <a:lnTo>
                  <a:pt x="2848039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C5C485F-40FE-5B96-4980-0F0CFF74DE6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4114" y="419109"/>
            <a:ext cx="1030039" cy="10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96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2CEB4-D5FC-AC39-8647-09559EC6E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410E6A-EB05-8AB6-01A4-23A674C5DDAD}"/>
              </a:ext>
            </a:extLst>
          </p:cNvPr>
          <p:cNvSpPr/>
          <p:nvPr/>
        </p:nvSpPr>
        <p:spPr>
          <a:xfrm rot="-5400000">
            <a:off x="-3451814" y="2646567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53714BE-DF47-BB2C-0725-E42FDA699CE0}"/>
              </a:ext>
            </a:extLst>
          </p:cNvPr>
          <p:cNvSpPr/>
          <p:nvPr/>
        </p:nvSpPr>
        <p:spPr>
          <a:xfrm rot="-5400000">
            <a:off x="-3451814" y="5480210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E72393A-E3F1-FBB5-058E-567655AF8F25}"/>
              </a:ext>
            </a:extLst>
          </p:cNvPr>
          <p:cNvSpPr/>
          <p:nvPr/>
        </p:nvSpPr>
        <p:spPr>
          <a:xfrm rot="-5400000">
            <a:off x="-3759899" y="2914571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F40D974-C252-A01D-F2C9-F6FEE5E12FB0}"/>
              </a:ext>
            </a:extLst>
          </p:cNvPr>
          <p:cNvSpPr/>
          <p:nvPr/>
        </p:nvSpPr>
        <p:spPr>
          <a:xfrm rot="-5400000">
            <a:off x="-3759899" y="5748214"/>
            <a:ext cx="8410133" cy="4205067"/>
          </a:xfrm>
          <a:custGeom>
            <a:avLst/>
            <a:gdLst/>
            <a:ahLst/>
            <a:cxnLst/>
            <a:rect l="l" t="t" r="r" b="b"/>
            <a:pathLst>
              <a:path w="8410133" h="4205067">
                <a:moveTo>
                  <a:pt x="0" y="0"/>
                </a:moveTo>
                <a:lnTo>
                  <a:pt x="8410133" y="0"/>
                </a:lnTo>
                <a:lnTo>
                  <a:pt x="8410133" y="4205067"/>
                </a:lnTo>
                <a:lnTo>
                  <a:pt x="0" y="4205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AAF5867-0B3F-15E0-1629-E6413C0D56A7}"/>
              </a:ext>
            </a:extLst>
          </p:cNvPr>
          <p:cNvSpPr/>
          <p:nvPr/>
        </p:nvSpPr>
        <p:spPr>
          <a:xfrm rot="-10800000">
            <a:off x="-312917" y="1711428"/>
            <a:ext cx="1883948" cy="1883948"/>
          </a:xfrm>
          <a:custGeom>
            <a:avLst/>
            <a:gdLst/>
            <a:ahLst/>
            <a:cxnLst/>
            <a:rect l="l" t="t" r="r" b="b"/>
            <a:pathLst>
              <a:path w="1883948" h="1883948">
                <a:moveTo>
                  <a:pt x="0" y="0"/>
                </a:moveTo>
                <a:lnTo>
                  <a:pt x="1883948" y="0"/>
                </a:lnTo>
                <a:lnTo>
                  <a:pt x="1883948" y="1883948"/>
                </a:lnTo>
                <a:lnTo>
                  <a:pt x="0" y="1883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E0978B9-C99E-8586-783A-54F8E06B33C5}"/>
              </a:ext>
            </a:extLst>
          </p:cNvPr>
          <p:cNvSpPr/>
          <p:nvPr/>
        </p:nvSpPr>
        <p:spPr>
          <a:xfrm rot="5400000">
            <a:off x="1738434" y="1711428"/>
            <a:ext cx="1202677" cy="1202677"/>
          </a:xfrm>
          <a:custGeom>
            <a:avLst/>
            <a:gdLst/>
            <a:ahLst/>
            <a:cxnLst/>
            <a:rect l="l" t="t" r="r" b="b"/>
            <a:pathLst>
              <a:path w="1202677" h="1202677">
                <a:moveTo>
                  <a:pt x="0" y="0"/>
                </a:moveTo>
                <a:lnTo>
                  <a:pt x="1202676" y="0"/>
                </a:lnTo>
                <a:lnTo>
                  <a:pt x="1202676" y="1202677"/>
                </a:lnTo>
                <a:lnTo>
                  <a:pt x="0" y="1202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7EDF089-C89E-3443-ACC3-0C9CC522C01D}"/>
              </a:ext>
            </a:extLst>
          </p:cNvPr>
          <p:cNvSpPr/>
          <p:nvPr/>
        </p:nvSpPr>
        <p:spPr>
          <a:xfrm rot="-10800000">
            <a:off x="1706937" y="425887"/>
            <a:ext cx="1168661" cy="1168661"/>
          </a:xfrm>
          <a:custGeom>
            <a:avLst/>
            <a:gdLst/>
            <a:ahLst/>
            <a:cxnLst/>
            <a:rect l="l" t="t" r="r" b="b"/>
            <a:pathLst>
              <a:path w="1168661" h="1168661">
                <a:moveTo>
                  <a:pt x="0" y="0"/>
                </a:moveTo>
                <a:lnTo>
                  <a:pt x="1168660" y="0"/>
                </a:lnTo>
                <a:lnTo>
                  <a:pt x="1168660" y="1168661"/>
                </a:lnTo>
                <a:lnTo>
                  <a:pt x="0" y="1168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E1AF22D-3CED-5E47-EF83-D7B9D7B2C98E}"/>
              </a:ext>
            </a:extLst>
          </p:cNvPr>
          <p:cNvSpPr/>
          <p:nvPr/>
        </p:nvSpPr>
        <p:spPr>
          <a:xfrm rot="5494193">
            <a:off x="-288851" y="-317006"/>
            <a:ext cx="1886072" cy="1886072"/>
          </a:xfrm>
          <a:custGeom>
            <a:avLst/>
            <a:gdLst/>
            <a:ahLst/>
            <a:cxnLst/>
            <a:rect l="l" t="t" r="r" b="b"/>
            <a:pathLst>
              <a:path w="1886072" h="1886072">
                <a:moveTo>
                  <a:pt x="0" y="0"/>
                </a:moveTo>
                <a:lnTo>
                  <a:pt x="1886071" y="0"/>
                </a:lnTo>
                <a:lnTo>
                  <a:pt x="1886071" y="1886072"/>
                </a:lnTo>
                <a:lnTo>
                  <a:pt x="0" y="1886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27EA1AA-829B-AEAB-BE1C-6329F6152C81}"/>
              </a:ext>
            </a:extLst>
          </p:cNvPr>
          <p:cNvSpPr/>
          <p:nvPr/>
        </p:nvSpPr>
        <p:spPr>
          <a:xfrm rot="-10800000">
            <a:off x="2875597" y="933613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1" y="0"/>
                </a:lnTo>
                <a:lnTo>
                  <a:pt x="4888041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413484D-AC91-8813-118C-386E7DA87FBB}"/>
              </a:ext>
            </a:extLst>
          </p:cNvPr>
          <p:cNvSpPr/>
          <p:nvPr/>
        </p:nvSpPr>
        <p:spPr>
          <a:xfrm rot="-10800000">
            <a:off x="7782688" y="9337492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B06B261-F0C6-04CB-EEE7-918143B34C67}"/>
              </a:ext>
            </a:extLst>
          </p:cNvPr>
          <p:cNvSpPr/>
          <p:nvPr/>
        </p:nvSpPr>
        <p:spPr>
          <a:xfrm rot="-10800000">
            <a:off x="12689778" y="9338853"/>
            <a:ext cx="4888040" cy="1015888"/>
          </a:xfrm>
          <a:custGeom>
            <a:avLst/>
            <a:gdLst/>
            <a:ahLst/>
            <a:cxnLst/>
            <a:rect l="l" t="t" r="r" b="b"/>
            <a:pathLst>
              <a:path w="4888040" h="1015888">
                <a:moveTo>
                  <a:pt x="0" y="0"/>
                </a:moveTo>
                <a:lnTo>
                  <a:pt x="4888040" y="0"/>
                </a:lnTo>
                <a:lnTo>
                  <a:pt x="4888040" y="1015888"/>
                </a:lnTo>
                <a:lnTo>
                  <a:pt x="0" y="10158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EF2D7DE-06C5-5E9C-1EB0-6F0B96E03942}"/>
              </a:ext>
            </a:extLst>
          </p:cNvPr>
          <p:cNvGrpSpPr/>
          <p:nvPr/>
        </p:nvGrpSpPr>
        <p:grpSpPr>
          <a:xfrm>
            <a:off x="2875597" y="9127948"/>
            <a:ext cx="15731854" cy="1880081"/>
            <a:chOff x="0" y="0"/>
            <a:chExt cx="4143369" cy="495165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FFE5E39-E461-2A84-9735-A348487EB439}"/>
                </a:ext>
              </a:extLst>
            </p:cNvPr>
            <p:cNvSpPr/>
            <p:nvPr/>
          </p:nvSpPr>
          <p:spPr>
            <a:xfrm>
              <a:off x="0" y="0"/>
              <a:ext cx="4143369" cy="495165"/>
            </a:xfrm>
            <a:custGeom>
              <a:avLst/>
              <a:gdLst/>
              <a:ahLst/>
              <a:cxnLst/>
              <a:rect l="l" t="t" r="r" b="b"/>
              <a:pathLst>
                <a:path w="4143369" h="495165">
                  <a:moveTo>
                    <a:pt x="0" y="0"/>
                  </a:moveTo>
                  <a:lnTo>
                    <a:pt x="4143369" y="0"/>
                  </a:lnTo>
                  <a:lnTo>
                    <a:pt x="4143369" y="495165"/>
                  </a:lnTo>
                  <a:lnTo>
                    <a:pt x="0" y="495165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33333">
                  <a:srgbClr val="FFFFFF">
                    <a:alpha val="71000"/>
                  </a:srgbClr>
                </a:gs>
                <a:gs pos="66667">
                  <a:srgbClr val="FFFFFF">
                    <a:alpha val="54000"/>
                  </a:srgbClr>
                </a:gs>
                <a:gs pos="100000">
                  <a:srgbClr val="FFFFFF">
                    <a:alpha val="215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98783904-3A0C-ABCF-CFCA-610CDFF54BE2}"/>
                </a:ext>
              </a:extLst>
            </p:cNvPr>
            <p:cNvSpPr txBox="1"/>
            <p:nvPr/>
          </p:nvSpPr>
          <p:spPr>
            <a:xfrm>
              <a:off x="0" y="-38100"/>
              <a:ext cx="4143369" cy="533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8C87DEDF-6F86-A1FE-3832-956FBB3D5564}"/>
              </a:ext>
            </a:extLst>
          </p:cNvPr>
          <p:cNvSpPr/>
          <p:nvPr/>
        </p:nvSpPr>
        <p:spPr>
          <a:xfrm rot="-10800000">
            <a:off x="8689419" y="9127948"/>
            <a:ext cx="9281250" cy="4640625"/>
          </a:xfrm>
          <a:custGeom>
            <a:avLst/>
            <a:gdLst/>
            <a:ahLst/>
            <a:cxnLst/>
            <a:rect l="l" t="t" r="r" b="b"/>
            <a:pathLst>
              <a:path w="9281250" h="4640625">
                <a:moveTo>
                  <a:pt x="0" y="0"/>
                </a:moveTo>
                <a:lnTo>
                  <a:pt x="9281250" y="0"/>
                </a:lnTo>
                <a:lnTo>
                  <a:pt x="9281250" y="4640625"/>
                </a:lnTo>
                <a:lnTo>
                  <a:pt x="0" y="46406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F066C4F8-867D-AB89-66D7-046BF978066C}"/>
              </a:ext>
            </a:extLst>
          </p:cNvPr>
          <p:cNvSpPr/>
          <p:nvPr/>
        </p:nvSpPr>
        <p:spPr>
          <a:xfrm rot="-10800000" flipH="1">
            <a:off x="971550" y="-3324521"/>
            <a:ext cx="7334017" cy="3667009"/>
          </a:xfrm>
          <a:custGeom>
            <a:avLst/>
            <a:gdLst/>
            <a:ahLst/>
            <a:cxnLst/>
            <a:rect l="l" t="t" r="r" b="b"/>
            <a:pathLst>
              <a:path w="7334017" h="3667009">
                <a:moveTo>
                  <a:pt x="7334017" y="0"/>
                </a:moveTo>
                <a:lnTo>
                  <a:pt x="0" y="0"/>
                </a:lnTo>
                <a:lnTo>
                  <a:pt x="0" y="3667009"/>
                </a:lnTo>
                <a:lnTo>
                  <a:pt x="7334017" y="3667009"/>
                </a:lnTo>
                <a:lnTo>
                  <a:pt x="73340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CA5678B-7134-6B0D-276E-E7FC3FEE8292}"/>
              </a:ext>
            </a:extLst>
          </p:cNvPr>
          <p:cNvGrpSpPr/>
          <p:nvPr/>
        </p:nvGrpSpPr>
        <p:grpSpPr>
          <a:xfrm rot="-10800000">
            <a:off x="8268687" y="-342488"/>
            <a:ext cx="10923063" cy="684975"/>
            <a:chOff x="0" y="0"/>
            <a:chExt cx="2891335" cy="181313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691B748-7CD9-9B05-98CA-E63B9C8C7A08}"/>
                </a:ext>
              </a:extLst>
            </p:cNvPr>
            <p:cNvSpPr/>
            <p:nvPr/>
          </p:nvSpPr>
          <p:spPr>
            <a:xfrm>
              <a:off x="0" y="0"/>
              <a:ext cx="2891335" cy="181313"/>
            </a:xfrm>
            <a:custGeom>
              <a:avLst/>
              <a:gdLst/>
              <a:ahLst/>
              <a:cxnLst/>
              <a:rect l="l" t="t" r="r" b="b"/>
              <a:pathLst>
                <a:path w="2891335" h="181313">
                  <a:moveTo>
                    <a:pt x="0" y="0"/>
                  </a:moveTo>
                  <a:lnTo>
                    <a:pt x="2891335" y="0"/>
                  </a:lnTo>
                  <a:lnTo>
                    <a:pt x="2891335" y="181313"/>
                  </a:lnTo>
                  <a:lnTo>
                    <a:pt x="0" y="181313"/>
                  </a:lnTo>
                  <a:close/>
                </a:path>
              </a:pathLst>
            </a:custGeom>
            <a:solidFill>
              <a:srgbClr val="0422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23D07EED-CF39-98E6-9ADE-E41ED83BE4EA}"/>
                </a:ext>
              </a:extLst>
            </p:cNvPr>
            <p:cNvSpPr txBox="1"/>
            <p:nvPr/>
          </p:nvSpPr>
          <p:spPr>
            <a:xfrm>
              <a:off x="0" y="-38100"/>
              <a:ext cx="2891335" cy="219413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2078"/>
                </a:lnSpc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8C26A29-A82B-82D1-6CC1-82C17575F644}"/>
              </a:ext>
            </a:extLst>
          </p:cNvPr>
          <p:cNvSpPr/>
          <p:nvPr/>
        </p:nvSpPr>
        <p:spPr>
          <a:xfrm>
            <a:off x="4091925" y="3072906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2"/>
                </a:lnTo>
                <a:lnTo>
                  <a:pt x="0" y="870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1.</a:t>
            </a:r>
            <a:endParaRPr lang="en-US" sz="2000" b="1" dirty="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B8349A6-28C3-8E24-4C12-16CC9F088F39}"/>
              </a:ext>
            </a:extLst>
          </p:cNvPr>
          <p:cNvSpPr txBox="1"/>
          <p:nvPr/>
        </p:nvSpPr>
        <p:spPr>
          <a:xfrm>
            <a:off x="4091925" y="1507313"/>
            <a:ext cx="11425142" cy="74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00"/>
              </a:lnSpc>
            </a:pPr>
            <a:r>
              <a:rPr lang="en-US" sz="5000" b="1" dirty="0">
                <a:solidFill>
                  <a:srgbClr val="40A8CD"/>
                </a:solidFill>
                <a:latin typeface="Nourd Bold"/>
                <a:ea typeface="Nourd Bold"/>
                <a:cs typeface="Nourd Bold"/>
                <a:sym typeface="Nourd Bold"/>
              </a:rPr>
              <a:t>Expected Outcomes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66F99E5-0122-726A-4820-6AEE62EE6323}"/>
              </a:ext>
            </a:extLst>
          </p:cNvPr>
          <p:cNvSpPr txBox="1"/>
          <p:nvPr/>
        </p:nvSpPr>
        <p:spPr>
          <a:xfrm>
            <a:off x="5298836" y="2993169"/>
            <a:ext cx="10626966" cy="13204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 err="1">
                <a:latin typeface="Nourd" panose="020B0604020202020204" charset="0"/>
              </a:rPr>
              <a:t>Validasi</a:t>
            </a:r>
            <a:r>
              <a:rPr lang="en-US" sz="2800" b="1" dirty="0">
                <a:latin typeface="Nourd" panose="020B0604020202020204" charset="0"/>
              </a:rPr>
              <a:t> Skala Besar:</a:t>
            </a:r>
            <a:r>
              <a:rPr lang="en-US" sz="2800" dirty="0">
                <a:latin typeface="Nourd" panose="020B0604020202020204" charset="0"/>
              </a:rPr>
              <a:t> AI </a:t>
            </a:r>
            <a:r>
              <a:rPr lang="en-US" sz="2800" dirty="0" err="1">
                <a:latin typeface="Nourd" panose="020B0604020202020204" charset="0"/>
              </a:rPr>
              <a:t>tidak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menggantikan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kepakaran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manusia</a:t>
            </a:r>
            <a:r>
              <a:rPr lang="en-US" sz="2800" dirty="0">
                <a:latin typeface="Nourd" panose="020B0604020202020204" charset="0"/>
              </a:rPr>
              <a:t>, </a:t>
            </a:r>
            <a:r>
              <a:rPr lang="en-US" sz="2800" dirty="0" err="1">
                <a:latin typeface="Nourd" panose="020B0604020202020204" charset="0"/>
              </a:rPr>
              <a:t>melainkan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mengotomatisasi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beban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kerja</a:t>
            </a:r>
            <a:r>
              <a:rPr lang="en-US" sz="2800" dirty="0">
                <a:latin typeface="Nourd" panose="020B0604020202020204" charset="0"/>
              </a:rPr>
              <a:t> manual </a:t>
            </a:r>
            <a:r>
              <a:rPr lang="en-US" sz="2800" dirty="0" err="1">
                <a:latin typeface="Nourd" panose="020B0604020202020204" charset="0"/>
              </a:rPr>
              <a:t>sehingga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penelitian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semiotika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dapat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divalidasi</a:t>
            </a:r>
            <a:r>
              <a:rPr lang="en-US" sz="2800" dirty="0">
                <a:latin typeface="Nourd" panose="020B0604020202020204" charset="0"/>
              </a:rPr>
              <a:t> pada </a:t>
            </a:r>
            <a:r>
              <a:rPr lang="en-US" sz="2800" dirty="0" err="1">
                <a:latin typeface="Nourd" panose="020B0604020202020204" charset="0"/>
              </a:rPr>
              <a:t>ribuan</a:t>
            </a:r>
            <a:r>
              <a:rPr lang="en-US" sz="2800" dirty="0">
                <a:latin typeface="Nourd" panose="020B0604020202020204" charset="0"/>
              </a:rPr>
              <a:t> data </a:t>
            </a:r>
            <a:r>
              <a:rPr lang="en-US" sz="2800" dirty="0" err="1">
                <a:latin typeface="Nourd" panose="020B0604020202020204" charset="0"/>
              </a:rPr>
              <a:t>empiris</a:t>
            </a:r>
            <a:r>
              <a:rPr lang="en-US" sz="2800" dirty="0">
                <a:latin typeface="Nourd" panose="020B0604020202020204" charset="0"/>
              </a:rPr>
              <a:t>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7F81D007-2291-760B-ABB3-6B5C07BC222C}"/>
              </a:ext>
            </a:extLst>
          </p:cNvPr>
          <p:cNvSpPr/>
          <p:nvPr/>
        </p:nvSpPr>
        <p:spPr>
          <a:xfrm>
            <a:off x="4078070" y="4610100"/>
            <a:ext cx="870422" cy="870422"/>
          </a:xfrm>
          <a:custGeom>
            <a:avLst/>
            <a:gdLst/>
            <a:ahLst/>
            <a:cxnLst/>
            <a:rect l="l" t="t" r="r" b="b"/>
            <a:pathLst>
              <a:path w="870422" h="870422">
                <a:moveTo>
                  <a:pt x="0" y="0"/>
                </a:moveTo>
                <a:lnTo>
                  <a:pt x="870422" y="0"/>
                </a:lnTo>
                <a:lnTo>
                  <a:pt x="870422" y="870423"/>
                </a:lnTo>
                <a:lnTo>
                  <a:pt x="0" y="87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algn="ctr"/>
            <a:r>
              <a:rPr lang="id-ID" sz="4000" b="1" dirty="0"/>
              <a:t>2.</a:t>
            </a:r>
            <a:endParaRPr lang="en-US" sz="4000" b="1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4D3A6D61-2BFC-8294-D9F0-0A2796026A47}"/>
              </a:ext>
            </a:extLst>
          </p:cNvPr>
          <p:cNvSpPr txBox="1"/>
          <p:nvPr/>
        </p:nvSpPr>
        <p:spPr>
          <a:xfrm>
            <a:off x="5222403" y="4611011"/>
            <a:ext cx="10703398" cy="1769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800" b="1" dirty="0" err="1">
                <a:latin typeface="Nourd" panose="020B0604020202020204" charset="0"/>
              </a:rPr>
              <a:t>Publikasi</a:t>
            </a:r>
            <a:r>
              <a:rPr lang="en-US" sz="2800" b="1" dirty="0">
                <a:latin typeface="Nourd" panose="020B0604020202020204" charset="0"/>
              </a:rPr>
              <a:t> </a:t>
            </a:r>
            <a:r>
              <a:rPr lang="en-US" sz="2800" b="1" dirty="0" err="1">
                <a:latin typeface="Nourd" panose="020B0604020202020204" charset="0"/>
              </a:rPr>
              <a:t>Berdampak</a:t>
            </a:r>
            <a:r>
              <a:rPr lang="en-US" sz="2800" b="1" dirty="0">
                <a:latin typeface="Nourd" panose="020B0604020202020204" charset="0"/>
              </a:rPr>
              <a:t> Tinggi: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Menghasilkan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literatur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ilmiah</a:t>
            </a:r>
            <a:r>
              <a:rPr lang="en-US" sz="2800" dirty="0">
                <a:latin typeface="Nourd" panose="020B0604020202020204" charset="0"/>
              </a:rPr>
              <a:t> yang </a:t>
            </a:r>
            <a:r>
              <a:rPr lang="en-US" sz="2800" dirty="0" err="1">
                <a:latin typeface="Nourd" panose="020B0604020202020204" charset="0"/>
              </a:rPr>
              <a:t>memadukan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kekuatan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metrik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komputasional</a:t>
            </a:r>
            <a:r>
              <a:rPr lang="en-US" sz="2800" dirty="0">
                <a:latin typeface="Nourd" panose="020B0604020202020204" charset="0"/>
              </a:rPr>
              <a:t> (</a:t>
            </a:r>
            <a:r>
              <a:rPr lang="en-US" sz="2800" i="1" dirty="0">
                <a:latin typeface="Nourd" panose="020B0604020202020204" charset="0"/>
              </a:rPr>
              <a:t>Precision/Recall</a:t>
            </a:r>
            <a:r>
              <a:rPr lang="en-US" sz="2800" dirty="0">
                <a:latin typeface="Nourd" panose="020B0604020202020204" charset="0"/>
              </a:rPr>
              <a:t>) </a:t>
            </a:r>
            <a:r>
              <a:rPr lang="en-US" sz="2800" dirty="0" err="1">
                <a:latin typeface="Nourd" panose="020B0604020202020204" charset="0"/>
              </a:rPr>
              <a:t>dengan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ketajaman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interpretasi</a:t>
            </a:r>
            <a:r>
              <a:rPr lang="en-US" sz="2800" dirty="0">
                <a:latin typeface="Nourd" panose="020B0604020202020204" charset="0"/>
              </a:rPr>
              <a:t> </a:t>
            </a:r>
            <a:r>
              <a:rPr lang="en-US" sz="2800" dirty="0" err="1">
                <a:latin typeface="Nourd" panose="020B0604020202020204" charset="0"/>
              </a:rPr>
              <a:t>kualitatif</a:t>
            </a:r>
            <a:r>
              <a:rPr lang="en-US" sz="2800" dirty="0">
                <a:latin typeface="Nourd" panose="020B0604020202020204" charset="0"/>
              </a:rPr>
              <a:t>/</a:t>
            </a:r>
            <a:r>
              <a:rPr lang="en-US" sz="2800" dirty="0" err="1">
                <a:latin typeface="Nourd" panose="020B0604020202020204" charset="0"/>
              </a:rPr>
              <a:t>semiotik</a:t>
            </a:r>
            <a:r>
              <a:rPr lang="id-ID" sz="2800" dirty="0">
                <a:latin typeface="Nourd" panose="020B0604020202020204" charset="0"/>
              </a:rPr>
              <a:t>.</a:t>
            </a:r>
            <a:endParaRPr lang="en-US" sz="2499" dirty="0">
              <a:solidFill>
                <a:srgbClr val="04223C"/>
              </a:solidFill>
              <a:latin typeface="Nourd" panose="020B0604020202020204" charset="0"/>
              <a:ea typeface="Nourd"/>
              <a:cs typeface="Nourd"/>
              <a:sym typeface="Nourd"/>
            </a:endParaRPr>
          </a:p>
        </p:txBody>
      </p:sp>
      <p:sp>
        <p:nvSpPr>
          <p:cNvPr id="30" name="TextBox 18">
            <a:extLst>
              <a:ext uri="{FF2B5EF4-FFF2-40B4-BE49-F238E27FC236}">
                <a16:creationId xmlns:a16="http://schemas.microsoft.com/office/drawing/2014/main" id="{7E100A92-E4D6-418E-7959-90DD999DAE5B}"/>
              </a:ext>
            </a:extLst>
          </p:cNvPr>
          <p:cNvSpPr txBox="1"/>
          <p:nvPr/>
        </p:nvSpPr>
        <p:spPr>
          <a:xfrm>
            <a:off x="12767431" y="8983286"/>
            <a:ext cx="4913960" cy="795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28"/>
              </a:lnSpc>
            </a:pPr>
            <a:r>
              <a:rPr lang="id-ID" sz="2400" dirty="0">
                <a:solidFill>
                  <a:srgbClr val="04223C"/>
                </a:solidFill>
                <a:latin typeface="Nourd"/>
                <a:ea typeface="Nourd"/>
                <a:cs typeface="Nourd"/>
                <a:sym typeface="Nourd"/>
              </a:rPr>
              <a:t>Surakarta, Indonesia 24 Juli 2026</a:t>
            </a:r>
            <a:endParaRPr lang="en-US" sz="2400" dirty="0">
              <a:solidFill>
                <a:srgbClr val="04223C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27" name="Freeform 29">
            <a:extLst>
              <a:ext uri="{FF2B5EF4-FFF2-40B4-BE49-F238E27FC236}">
                <a16:creationId xmlns:a16="http://schemas.microsoft.com/office/drawing/2014/main" id="{E7188BED-3598-A3D8-6DFC-06C4DD945BB7}"/>
              </a:ext>
            </a:extLst>
          </p:cNvPr>
          <p:cNvSpPr/>
          <p:nvPr/>
        </p:nvSpPr>
        <p:spPr>
          <a:xfrm>
            <a:off x="14196075" y="361448"/>
            <a:ext cx="2848039" cy="1112515"/>
          </a:xfrm>
          <a:custGeom>
            <a:avLst/>
            <a:gdLst/>
            <a:ahLst/>
            <a:cxnLst/>
            <a:rect l="l" t="t" r="r" b="b"/>
            <a:pathLst>
              <a:path w="2848039" h="1112515">
                <a:moveTo>
                  <a:pt x="0" y="0"/>
                </a:moveTo>
                <a:lnTo>
                  <a:pt x="2848039" y="0"/>
                </a:lnTo>
                <a:lnTo>
                  <a:pt x="2848039" y="1112515"/>
                </a:lnTo>
                <a:lnTo>
                  <a:pt x="0" y="11125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4AF83FC-9281-689C-9EEF-716CB91B13E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4114" y="419109"/>
            <a:ext cx="1030039" cy="102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86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2287</TotalTime>
  <Words>752</Words>
  <Application>Microsoft Office PowerPoint</Application>
  <PresentationFormat>Custom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Nourd Bold</vt:lpstr>
      <vt:lpstr>Calibri</vt:lpstr>
      <vt:lpstr>Arial</vt:lpstr>
      <vt:lpstr>Nourd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 AI</dc:title>
  <dc:creator>megalodon</dc:creator>
  <cp:lastModifiedBy>agung ribowo</cp:lastModifiedBy>
  <cp:revision>36</cp:revision>
  <dcterms:created xsi:type="dcterms:W3CDTF">2006-08-16T00:00:00Z</dcterms:created>
  <dcterms:modified xsi:type="dcterms:W3CDTF">2026-07-23T23:58:29Z</dcterms:modified>
  <dc:identifier>DAGqBZ5nf6c</dc:identifier>
</cp:coreProperties>
</file>